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61" r:id="rId5"/>
    <p:sldId id="267" r:id="rId6"/>
    <p:sldId id="262" r:id="rId7"/>
    <p:sldId id="256" r:id="rId8"/>
    <p:sldId id="269" r:id="rId9"/>
    <p:sldId id="270" r:id="rId10"/>
    <p:sldId id="263" r:id="rId11"/>
    <p:sldId id="268" r:id="rId12"/>
    <p:sldId id="265" r:id="rId13"/>
    <p:sldId id="264" r:id="rId14"/>
    <p:sldId id="266" r:id="rId15"/>
    <p:sldId id="258"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E3D1A8E-21DA-43B7-9469-3C1E8E155EAC}">
          <p14:sldIdLst>
            <p14:sldId id="261"/>
            <p14:sldId id="267"/>
            <p14:sldId id="262"/>
            <p14:sldId id="256"/>
            <p14:sldId id="269"/>
          </p14:sldIdLst>
        </p14:section>
        <p14:section name="Extras" id="{3D063AF0-21C9-4AFA-8E92-AE634779B5AC}">
          <p14:sldIdLst>
            <p14:sldId id="270"/>
          </p14:sldIdLst>
        </p14:section>
        <p14:section name="Extras" id="{1E7675C1-2E84-45C1-8AC2-8DC547253A56}">
          <p14:sldIdLst>
            <p14:sldId id="263"/>
            <p14:sldId id="268"/>
            <p14:sldId id="265"/>
            <p14:sldId id="264"/>
            <p14:sldId id="266"/>
            <p14:sldId id="258"/>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8A7A9"/>
    <a:srgbClr val="ADB5B0"/>
    <a:srgbClr val="CE9398"/>
    <a:srgbClr val="94BEB3"/>
    <a:srgbClr val="79B1A2"/>
    <a:srgbClr val="E1F5EE"/>
    <a:srgbClr val="FCEBEB"/>
    <a:srgbClr val="D3D0F2"/>
    <a:srgbClr val="EEEDFE"/>
    <a:srgbClr val="F1EF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4" y="10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6917B3-5173-4448-A1AB-2DC2393D042F}" type="datetimeFigureOut">
              <a:rPr lang="en-US" smtClean="0"/>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68FA0-05C0-4D89-B851-3CBBBFEDBF63}" type="slidenum">
              <a:rPr lang="en-US" smtClean="0"/>
              <a:t>‹#›</a:t>
            </a:fld>
            <a:endParaRPr lang="en-US"/>
          </a:p>
        </p:txBody>
      </p:sp>
    </p:spTree>
    <p:extLst>
      <p:ext uri="{BB962C8B-B14F-4D97-AF65-F5344CB8AC3E}">
        <p14:creationId xmlns:p14="http://schemas.microsoft.com/office/powerpoint/2010/main" val="2431948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FFF1C-3534-808A-279D-527BC4968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50ADE-EA21-36B6-445C-E67C2A2C13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E8CC07-1344-D05C-97EE-8456CFEC2B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89CE47-0F2D-E3B6-0F9E-6DAEFD9FDBB4}"/>
              </a:ext>
            </a:extLst>
          </p:cNvPr>
          <p:cNvSpPr>
            <a:spLocks noGrp="1"/>
          </p:cNvSpPr>
          <p:nvPr>
            <p:ph type="sldNum" sz="quarter" idx="5"/>
          </p:nvPr>
        </p:nvSpPr>
        <p:spPr/>
        <p:txBody>
          <a:bodyPr/>
          <a:lstStyle/>
          <a:p>
            <a:fld id="{20168FA0-05C0-4D89-B851-3CBBBFEDBF63}" type="slidenum">
              <a:rPr lang="en-US" smtClean="0"/>
              <a:t>2</a:t>
            </a:fld>
            <a:endParaRPr lang="en-US"/>
          </a:p>
        </p:txBody>
      </p:sp>
    </p:spTree>
    <p:extLst>
      <p:ext uri="{BB962C8B-B14F-4D97-AF65-F5344CB8AC3E}">
        <p14:creationId xmlns:p14="http://schemas.microsoft.com/office/powerpoint/2010/main" val="3445212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168FA0-05C0-4D89-B851-3CBBBFEDBF63}" type="slidenum">
              <a:rPr lang="en-US" smtClean="0"/>
              <a:t>3</a:t>
            </a:fld>
            <a:endParaRPr lang="en-US"/>
          </a:p>
        </p:txBody>
      </p:sp>
    </p:spTree>
    <p:extLst>
      <p:ext uri="{BB962C8B-B14F-4D97-AF65-F5344CB8AC3E}">
        <p14:creationId xmlns:p14="http://schemas.microsoft.com/office/powerpoint/2010/main" val="1915736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168FA0-05C0-4D89-B851-3CBBBFEDBF63}" type="slidenum">
              <a:rPr lang="en-US" smtClean="0"/>
              <a:t>4</a:t>
            </a:fld>
            <a:endParaRPr lang="en-US"/>
          </a:p>
        </p:txBody>
      </p:sp>
    </p:spTree>
    <p:extLst>
      <p:ext uri="{BB962C8B-B14F-4D97-AF65-F5344CB8AC3E}">
        <p14:creationId xmlns:p14="http://schemas.microsoft.com/office/powerpoint/2010/main" val="3568655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C3D08-38CF-4BBE-A329-0D9902562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7304F-FE21-FE37-F337-A6F7082EDF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35BD86B-F812-931E-F01A-06322D6F4B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5C7BF2-C6D6-27CF-7A2B-417B3339CBCA}"/>
              </a:ext>
            </a:extLst>
          </p:cNvPr>
          <p:cNvSpPr>
            <a:spLocks noGrp="1"/>
          </p:cNvSpPr>
          <p:nvPr>
            <p:ph type="sldNum" sz="quarter" idx="5"/>
          </p:nvPr>
        </p:nvSpPr>
        <p:spPr/>
        <p:txBody>
          <a:bodyPr/>
          <a:lstStyle/>
          <a:p>
            <a:fld id="{20168FA0-05C0-4D89-B851-3CBBBFEDBF63}" type="slidenum">
              <a:rPr lang="en-US" smtClean="0"/>
              <a:t>5</a:t>
            </a:fld>
            <a:endParaRPr lang="en-US"/>
          </a:p>
        </p:txBody>
      </p:sp>
    </p:spTree>
    <p:extLst>
      <p:ext uri="{BB962C8B-B14F-4D97-AF65-F5344CB8AC3E}">
        <p14:creationId xmlns:p14="http://schemas.microsoft.com/office/powerpoint/2010/main" val="958349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D1231-1679-C67F-8A5E-D5281B3A0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7C019-9F7A-9714-1C4E-D16E010CC8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9C9C74-2D6B-333E-7E69-22D76EA226A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1D715E-5552-4E8D-C9E7-2CBC38B64DF7}"/>
              </a:ext>
            </a:extLst>
          </p:cNvPr>
          <p:cNvSpPr>
            <a:spLocks noGrp="1"/>
          </p:cNvSpPr>
          <p:nvPr>
            <p:ph type="sldNum" sz="quarter" idx="5"/>
          </p:nvPr>
        </p:nvSpPr>
        <p:spPr/>
        <p:txBody>
          <a:bodyPr/>
          <a:lstStyle/>
          <a:p>
            <a:fld id="{20168FA0-05C0-4D89-B851-3CBBBFEDBF63}" type="slidenum">
              <a:rPr lang="en-US" smtClean="0"/>
              <a:t>6</a:t>
            </a:fld>
            <a:endParaRPr lang="en-US"/>
          </a:p>
        </p:txBody>
      </p:sp>
    </p:spTree>
    <p:extLst>
      <p:ext uri="{BB962C8B-B14F-4D97-AF65-F5344CB8AC3E}">
        <p14:creationId xmlns:p14="http://schemas.microsoft.com/office/powerpoint/2010/main" val="3775869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ECAF9-9A6F-D8B1-D02E-0CBC36A16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FA1A9-F47D-9250-AC56-E81B42107D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678535-7DF2-F9FA-421F-B54200703B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79F57C-87B0-BA94-2FC8-B53C38B9173F}"/>
              </a:ext>
            </a:extLst>
          </p:cNvPr>
          <p:cNvSpPr>
            <a:spLocks noGrp="1"/>
          </p:cNvSpPr>
          <p:nvPr>
            <p:ph type="sldNum" sz="quarter" idx="5"/>
          </p:nvPr>
        </p:nvSpPr>
        <p:spPr/>
        <p:txBody>
          <a:bodyPr/>
          <a:lstStyle/>
          <a:p>
            <a:fld id="{20168FA0-05C0-4D89-B851-3CBBBFEDBF63}" type="slidenum">
              <a:rPr lang="en-US" smtClean="0"/>
              <a:t>7</a:t>
            </a:fld>
            <a:endParaRPr lang="en-US"/>
          </a:p>
        </p:txBody>
      </p:sp>
    </p:spTree>
    <p:extLst>
      <p:ext uri="{BB962C8B-B14F-4D97-AF65-F5344CB8AC3E}">
        <p14:creationId xmlns:p14="http://schemas.microsoft.com/office/powerpoint/2010/main" val="2785270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C3AC3-BC08-BCB2-8F37-8CA8D6D8F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FC1DA-CC18-02BB-6C4D-D3B163B84FA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B60DBC-4CEE-1929-3779-64A8414D6B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6721EF-7D8D-AEF2-9A2C-05EC1BE75683}"/>
              </a:ext>
            </a:extLst>
          </p:cNvPr>
          <p:cNvSpPr>
            <a:spLocks noGrp="1"/>
          </p:cNvSpPr>
          <p:nvPr>
            <p:ph type="sldNum" sz="quarter" idx="5"/>
          </p:nvPr>
        </p:nvSpPr>
        <p:spPr/>
        <p:txBody>
          <a:bodyPr/>
          <a:lstStyle/>
          <a:p>
            <a:fld id="{20168FA0-05C0-4D89-B851-3CBBBFEDBF63}" type="slidenum">
              <a:rPr lang="en-US" smtClean="0"/>
              <a:t>8</a:t>
            </a:fld>
            <a:endParaRPr lang="en-US"/>
          </a:p>
        </p:txBody>
      </p:sp>
    </p:spTree>
    <p:extLst>
      <p:ext uri="{BB962C8B-B14F-4D97-AF65-F5344CB8AC3E}">
        <p14:creationId xmlns:p14="http://schemas.microsoft.com/office/powerpoint/2010/main" val="334279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69503-C63A-DA32-5E44-34FB60679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BCAE7-3AC2-D949-3BEB-872C1E641D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86D937-80D5-0BD7-0C4B-43BAB3F261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EBC343-FE4C-4B25-AB10-1280C42C368A}"/>
              </a:ext>
            </a:extLst>
          </p:cNvPr>
          <p:cNvSpPr>
            <a:spLocks noGrp="1"/>
          </p:cNvSpPr>
          <p:nvPr>
            <p:ph type="sldNum" sz="quarter" idx="5"/>
          </p:nvPr>
        </p:nvSpPr>
        <p:spPr/>
        <p:txBody>
          <a:bodyPr/>
          <a:lstStyle/>
          <a:p>
            <a:fld id="{20168FA0-05C0-4D89-B851-3CBBBFEDBF63}" type="slidenum">
              <a:rPr lang="en-US" smtClean="0"/>
              <a:t>9</a:t>
            </a:fld>
            <a:endParaRPr lang="en-US"/>
          </a:p>
        </p:txBody>
      </p:sp>
    </p:spTree>
    <p:extLst>
      <p:ext uri="{BB962C8B-B14F-4D97-AF65-F5344CB8AC3E}">
        <p14:creationId xmlns:p14="http://schemas.microsoft.com/office/powerpoint/2010/main" val="463325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B8BD4-A2A5-4006-1C7C-D834D22B3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944B8F-3AC9-BCC9-1588-12E3946B35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8C3ADDE-DB41-C96F-E663-93CEB51C23C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8781EF-1129-3198-BAC3-87BFDCC65777}"/>
              </a:ext>
            </a:extLst>
          </p:cNvPr>
          <p:cNvSpPr>
            <a:spLocks noGrp="1"/>
          </p:cNvSpPr>
          <p:nvPr>
            <p:ph type="sldNum" sz="quarter" idx="5"/>
          </p:nvPr>
        </p:nvSpPr>
        <p:spPr/>
        <p:txBody>
          <a:bodyPr/>
          <a:lstStyle/>
          <a:p>
            <a:fld id="{20168FA0-05C0-4D89-B851-3CBBBFEDBF63}" type="slidenum">
              <a:rPr lang="en-US" smtClean="0"/>
              <a:t>10</a:t>
            </a:fld>
            <a:endParaRPr lang="en-US"/>
          </a:p>
        </p:txBody>
      </p:sp>
    </p:spTree>
    <p:extLst>
      <p:ext uri="{BB962C8B-B14F-4D97-AF65-F5344CB8AC3E}">
        <p14:creationId xmlns:p14="http://schemas.microsoft.com/office/powerpoint/2010/main" val="2043870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604D3-490A-FFD6-E414-B54416694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2C22E-7B16-A91F-E8DB-B5E4611993D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1C1D94-752D-2FC0-3E26-A9173CEEA1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5E1973-1E39-19ED-DBE4-DD7387665A86}"/>
              </a:ext>
            </a:extLst>
          </p:cNvPr>
          <p:cNvSpPr>
            <a:spLocks noGrp="1"/>
          </p:cNvSpPr>
          <p:nvPr>
            <p:ph type="sldNum" sz="quarter" idx="5"/>
          </p:nvPr>
        </p:nvSpPr>
        <p:spPr/>
        <p:txBody>
          <a:bodyPr/>
          <a:lstStyle/>
          <a:p>
            <a:fld id="{20168FA0-05C0-4D89-B851-3CBBBFEDBF63}" type="slidenum">
              <a:rPr lang="en-US" smtClean="0"/>
              <a:t>11</a:t>
            </a:fld>
            <a:endParaRPr lang="en-US"/>
          </a:p>
        </p:txBody>
      </p:sp>
    </p:spTree>
    <p:extLst>
      <p:ext uri="{BB962C8B-B14F-4D97-AF65-F5344CB8AC3E}">
        <p14:creationId xmlns:p14="http://schemas.microsoft.com/office/powerpoint/2010/main" val="1834630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i="1"/>
              <a:t>At ZS, one of our core philosophies is — Impact where it matters.“</a:t>
            </a:r>
            <a:r>
              <a:rPr lang="en-US" i="0"/>
              <a:t> </a:t>
            </a:r>
            <a:r>
              <a:rPr lang="en-US" i="1"/>
              <a:t>But in a world where stockouts cost lives and supply chains move at the speed of news,  it's not just about where it matters… it's about acting now. Every satisfactory order cycle that goes unmet, Introducing PharmRebalance — a real-time, news-driven engine that detects supply chain disruptions as they happen and rebalances stock before the gap hits the shelf.</a:t>
            </a:r>
            <a:endParaRPr lang="en-US"/>
          </a:p>
          <a:p>
            <a:endParaRPr lang="en-US"/>
          </a:p>
          <a:p>
            <a:endParaRPr lang="en-US"/>
          </a:p>
        </p:txBody>
      </p:sp>
      <p:sp>
        <p:nvSpPr>
          <p:cNvPr id="4" name="Slide Number Placeholder 3"/>
          <p:cNvSpPr>
            <a:spLocks noGrp="1"/>
          </p:cNvSpPr>
          <p:nvPr>
            <p:ph type="sldNum" sz="quarter" idx="5"/>
          </p:nvPr>
        </p:nvSpPr>
        <p:spPr/>
        <p:txBody>
          <a:bodyPr/>
          <a:lstStyle/>
          <a:p>
            <a:fld id="{20168FA0-05C0-4D89-B851-3CBBBFEDBF63}" type="slidenum">
              <a:rPr lang="en-US" smtClean="0"/>
              <a:t>12</a:t>
            </a:fld>
            <a:endParaRPr lang="en-US"/>
          </a:p>
        </p:txBody>
      </p:sp>
    </p:spTree>
    <p:extLst>
      <p:ext uri="{BB962C8B-B14F-4D97-AF65-F5344CB8AC3E}">
        <p14:creationId xmlns:p14="http://schemas.microsoft.com/office/powerpoint/2010/main" val="23509456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4EDAE-A5F8-A551-DEE1-441D61F35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3F7B3-AAEF-551E-3CBF-7251DFAF7F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3964DD-3015-4282-A158-3A9B2DCA6C94}"/>
              </a:ext>
            </a:extLst>
          </p:cNvPr>
          <p:cNvSpPr>
            <a:spLocks noGrp="1"/>
          </p:cNvSpPr>
          <p:nvPr>
            <p:ph type="body" idx="1"/>
          </p:nvPr>
        </p:nvSpPr>
        <p:spPr/>
        <p:txBody>
          <a:bodyPr/>
          <a:lstStyle/>
          <a:p>
            <a:r>
              <a:rPr lang="en-US" i="1"/>
              <a:t>At ZS, one of our core philosophies is — Impact where it matters.“</a:t>
            </a:r>
            <a:r>
              <a:rPr lang="en-US" i="0"/>
              <a:t> </a:t>
            </a:r>
            <a:r>
              <a:rPr lang="en-US" i="1"/>
              <a:t>But in a world where stockouts cost lives and supply chains move at the speed of news,  it's not just about where it matters… it's about acting now. Every satisfactory order cycle that goes unmet, Introducing PharmRebalance — a real-time, news-driven engine that detects supply chain disruptions as they happen and rebalances stock before the gap hits the shelf.</a:t>
            </a:r>
            <a:endParaRPr lang="en-US"/>
          </a:p>
          <a:p>
            <a:endParaRPr lang="en-US"/>
          </a:p>
          <a:p>
            <a:endParaRPr lang="en-US"/>
          </a:p>
        </p:txBody>
      </p:sp>
      <p:sp>
        <p:nvSpPr>
          <p:cNvPr id="4" name="Slide Number Placeholder 3">
            <a:extLst>
              <a:ext uri="{FF2B5EF4-FFF2-40B4-BE49-F238E27FC236}">
                <a16:creationId xmlns:a16="http://schemas.microsoft.com/office/drawing/2014/main" id="{0EA65D8F-7206-F30E-1988-6E117D811D4A}"/>
              </a:ext>
            </a:extLst>
          </p:cNvPr>
          <p:cNvSpPr>
            <a:spLocks noGrp="1"/>
          </p:cNvSpPr>
          <p:nvPr>
            <p:ph type="sldNum" sz="quarter" idx="5"/>
          </p:nvPr>
        </p:nvSpPr>
        <p:spPr/>
        <p:txBody>
          <a:bodyPr/>
          <a:lstStyle/>
          <a:p>
            <a:fld id="{20168FA0-05C0-4D89-B851-3CBBBFEDBF63}" type="slidenum">
              <a:rPr lang="en-US" smtClean="0"/>
              <a:t>13</a:t>
            </a:fld>
            <a:endParaRPr lang="en-US"/>
          </a:p>
        </p:txBody>
      </p:sp>
    </p:spTree>
    <p:extLst>
      <p:ext uri="{BB962C8B-B14F-4D97-AF65-F5344CB8AC3E}">
        <p14:creationId xmlns:p14="http://schemas.microsoft.com/office/powerpoint/2010/main" val="522148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AF9F7-A3B4-AF56-044B-56C89A69FA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0DD1D5-4BAA-E26E-6F53-BE759CC6DE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A89F9F-11BE-5126-D8D7-DBCA52E2A759}"/>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5" name="Footer Placeholder 4">
            <a:extLst>
              <a:ext uri="{FF2B5EF4-FFF2-40B4-BE49-F238E27FC236}">
                <a16:creationId xmlns:a16="http://schemas.microsoft.com/office/drawing/2014/main" id="{14D74006-9ADB-B1EA-DF9D-13DCACA762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1B4A01-8996-67B7-998F-34DB02701558}"/>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2340788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1E6A6-9302-49A4-1A0A-4E5B6685B5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F4393A-592D-4D3E-5835-C5FC05E8F1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37D361-6745-E877-B73D-C4B2B9209503}"/>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5" name="Footer Placeholder 4">
            <a:extLst>
              <a:ext uri="{FF2B5EF4-FFF2-40B4-BE49-F238E27FC236}">
                <a16:creationId xmlns:a16="http://schemas.microsoft.com/office/drawing/2014/main" id="{2C8B7377-D632-8BBD-D685-0C61AD518F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89EF7A-7DDA-0C36-9998-358F530614CE}"/>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3274197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0F6EA-C6A4-4D06-7C0D-884478EAA9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CD945A-F7F4-68F4-1E2A-AED7305D7F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B0571D-74C2-A9C5-419A-2C5F27AD9A73}"/>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5" name="Footer Placeholder 4">
            <a:extLst>
              <a:ext uri="{FF2B5EF4-FFF2-40B4-BE49-F238E27FC236}">
                <a16:creationId xmlns:a16="http://schemas.microsoft.com/office/drawing/2014/main" id="{86887F8B-A57B-407A-3F90-D02048E702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9D231A-4B09-8B80-0268-DBBDB89CCF95}"/>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2797314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B2B43-F5C6-15C1-BE42-BF587EDD59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3D3027-B304-8784-CF16-F643D5D1E2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2E91E5-EF70-2117-EC35-7FB9912CB2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9CA3EE-E293-F978-77A3-E250B432DBAA}"/>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6" name="Footer Placeholder 5">
            <a:extLst>
              <a:ext uri="{FF2B5EF4-FFF2-40B4-BE49-F238E27FC236}">
                <a16:creationId xmlns:a16="http://schemas.microsoft.com/office/drawing/2014/main" id="{8216D55B-B9A7-0FBA-3FA4-564C722050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EDD3A8-2E8D-C9F7-E015-27545B82B436}"/>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2913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D5605-C20E-294A-7E02-5CACBE8A8C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9F98C1-36DF-51CA-3738-2FA5AB7329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DB8B52-CD6B-D0C2-EF5B-72B9BE450F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07C7D1-D6E5-9A6C-5DE4-74AB105EEF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443B2B-3942-680B-90FD-459C586A6A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BC928C-C832-2930-4A5D-A9BAB8AB749D}"/>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8" name="Footer Placeholder 7">
            <a:extLst>
              <a:ext uri="{FF2B5EF4-FFF2-40B4-BE49-F238E27FC236}">
                <a16:creationId xmlns:a16="http://schemas.microsoft.com/office/drawing/2014/main" id="{6B32728A-9A22-DEC8-662E-DD67F6A9F3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801F18-7F39-844F-77A8-B0681D5E40BA}"/>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1048304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02B46-D057-3DFC-A9EC-8E4EF527D2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8226B27-B855-0F4B-C2D0-768934112EA2}"/>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4" name="Footer Placeholder 3">
            <a:extLst>
              <a:ext uri="{FF2B5EF4-FFF2-40B4-BE49-F238E27FC236}">
                <a16:creationId xmlns:a16="http://schemas.microsoft.com/office/drawing/2014/main" id="{8CEC31A7-A489-06C2-3651-BACBF0D67C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A6E707-9F89-816F-D97E-EDD8C9F8FB89}"/>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3939862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6E9632-6C2F-2C92-AEAE-A88C6F0F550A}"/>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3" name="Footer Placeholder 2">
            <a:extLst>
              <a:ext uri="{FF2B5EF4-FFF2-40B4-BE49-F238E27FC236}">
                <a16:creationId xmlns:a16="http://schemas.microsoft.com/office/drawing/2014/main" id="{22DF0B95-25E2-0F51-6D8A-EEA7E40223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650E05-8935-46C4-2279-3006580BA3E2}"/>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124062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AE38C-C3F8-4349-7DF3-828631F7A1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1F8060-19EF-4D20-F23C-6D83F6F9D4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882A3A-2149-0A56-99AA-8529AE9438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A11B12-D609-153A-96B0-57AC2A64D455}"/>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6" name="Footer Placeholder 5">
            <a:extLst>
              <a:ext uri="{FF2B5EF4-FFF2-40B4-BE49-F238E27FC236}">
                <a16:creationId xmlns:a16="http://schemas.microsoft.com/office/drawing/2014/main" id="{67037710-D8EF-623B-5D73-45D2D9E64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3D1B-6F0E-0BF4-4109-7B7805836BB7}"/>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553770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427A5-9950-EB65-9E90-D59E8A7F1A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DF87B0-B674-4E97-01BA-A8501E84E0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890020-7646-1B11-FB6C-800DFAC7A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F1D7DE-F340-1338-B3F7-6855A9B27943}"/>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6" name="Footer Placeholder 5">
            <a:extLst>
              <a:ext uri="{FF2B5EF4-FFF2-40B4-BE49-F238E27FC236}">
                <a16:creationId xmlns:a16="http://schemas.microsoft.com/office/drawing/2014/main" id="{5DB0EF69-C9FE-23F0-A4B9-2C19A566D8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DD7C37-1A64-AF73-2230-6E4CDAA4952F}"/>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3031385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B63E5-595E-6105-2B67-720FB73180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8024DB-A988-1DA2-B3C8-D25D50108A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966A15-AEAB-472A-4991-D22533FF874C}"/>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5" name="Footer Placeholder 4">
            <a:extLst>
              <a:ext uri="{FF2B5EF4-FFF2-40B4-BE49-F238E27FC236}">
                <a16:creationId xmlns:a16="http://schemas.microsoft.com/office/drawing/2014/main" id="{8EEB8789-1D52-FBA5-794F-1919F6DF78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47780-7082-C3B8-07AB-BF839C5F3771}"/>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540310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19A449-7759-B938-9D53-6DAEEC87B8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66BB81-A55D-F2AF-C099-E61E09551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F065D3-3782-461D-72D5-18334FF44602}"/>
              </a:ext>
            </a:extLst>
          </p:cNvPr>
          <p:cNvSpPr>
            <a:spLocks noGrp="1"/>
          </p:cNvSpPr>
          <p:nvPr>
            <p:ph type="dt" sz="half" idx="10"/>
          </p:nvPr>
        </p:nvSpPr>
        <p:spPr/>
        <p:txBody>
          <a:bodyPr/>
          <a:lstStyle/>
          <a:p>
            <a:fld id="{29CA2118-75F7-4049-9AA7-6C134CBBEB7C}" type="datetimeFigureOut">
              <a:rPr lang="en-US" smtClean="0"/>
              <a:t>6/4/2026</a:t>
            </a:fld>
            <a:endParaRPr lang="en-US"/>
          </a:p>
        </p:txBody>
      </p:sp>
      <p:sp>
        <p:nvSpPr>
          <p:cNvPr id="5" name="Footer Placeholder 4">
            <a:extLst>
              <a:ext uri="{FF2B5EF4-FFF2-40B4-BE49-F238E27FC236}">
                <a16:creationId xmlns:a16="http://schemas.microsoft.com/office/drawing/2014/main" id="{D68B8062-237F-5B1D-5A72-01A163EA8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267F14-52E1-4FB8-F35B-7DC752CA5D87}"/>
              </a:ext>
            </a:extLst>
          </p:cNvPr>
          <p:cNvSpPr>
            <a:spLocks noGrp="1"/>
          </p:cNvSpPr>
          <p:nvPr>
            <p:ph type="sldNum" sz="quarter" idx="12"/>
          </p:nvPr>
        </p:nvSpPr>
        <p:spPr/>
        <p:txBody>
          <a:bodyPr/>
          <a:lstStyle/>
          <a:p>
            <a:fld id="{B3691A84-736B-4FFC-8EC9-03B7CAD77546}" type="slidenum">
              <a:rPr lang="en-US" smtClean="0"/>
              <a:t>‹#›</a:t>
            </a:fld>
            <a:endParaRPr lang="en-US"/>
          </a:p>
        </p:txBody>
      </p:sp>
    </p:spTree>
    <p:extLst>
      <p:ext uri="{BB962C8B-B14F-4D97-AF65-F5344CB8AC3E}">
        <p14:creationId xmlns:p14="http://schemas.microsoft.com/office/powerpoint/2010/main" val="437631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1AC104-E78B-5CD0-4CB3-5B30629D61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26442A-16DE-CF4E-AC01-0A9CD507D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CC690-76E8-7F47-F8B6-8017D16B18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CA2118-75F7-4049-9AA7-6C134CBBEB7C}" type="datetimeFigureOut">
              <a:rPr lang="en-US" smtClean="0"/>
              <a:t>6/4/2026</a:t>
            </a:fld>
            <a:endParaRPr lang="en-US"/>
          </a:p>
        </p:txBody>
      </p:sp>
      <p:sp>
        <p:nvSpPr>
          <p:cNvPr id="5" name="Footer Placeholder 4">
            <a:extLst>
              <a:ext uri="{FF2B5EF4-FFF2-40B4-BE49-F238E27FC236}">
                <a16:creationId xmlns:a16="http://schemas.microsoft.com/office/drawing/2014/main" id="{0BFB6A69-CB1D-37A1-329B-2A3B9BADC1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6BCC15D-7209-1B86-131F-56CF995E09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691A84-736B-4FFC-8EC9-03B7CAD77546}" type="slidenum">
              <a:rPr lang="en-US" smtClean="0"/>
              <a:t>‹#›</a:t>
            </a:fld>
            <a:endParaRPr lang="en-US"/>
          </a:p>
        </p:txBody>
      </p:sp>
    </p:spTree>
    <p:extLst>
      <p:ext uri="{BB962C8B-B14F-4D97-AF65-F5344CB8AC3E}">
        <p14:creationId xmlns:p14="http://schemas.microsoft.com/office/powerpoint/2010/main" val="3657622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5.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5.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5.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5667B-EB2E-85CD-F00F-914D680CB07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B2F1AD8-5727-A11A-6D6D-39EEADD4AEAF}"/>
              </a:ext>
            </a:extLst>
          </p:cNvPr>
          <p:cNvPicPr>
            <a:picLocks noChangeAspect="1"/>
          </p:cNvPicPr>
          <p:nvPr/>
        </p:nvPicPr>
        <p:blipFill>
          <a:blip r:embed="rId2"/>
          <a:srcRect t="12303" b="5892"/>
          <a:stretch>
            <a:fillRect/>
          </a:stretch>
        </p:blipFill>
        <p:spPr>
          <a:xfrm>
            <a:off x="3802743" y="0"/>
            <a:ext cx="8389257" cy="6862878"/>
          </a:xfrm>
          <a:prstGeom prst="rect">
            <a:avLst/>
          </a:prstGeom>
        </p:spPr>
      </p:pic>
      <p:pic>
        <p:nvPicPr>
          <p:cNvPr id="11" name="Picture 10">
            <a:extLst>
              <a:ext uri="{FF2B5EF4-FFF2-40B4-BE49-F238E27FC236}">
                <a16:creationId xmlns:a16="http://schemas.microsoft.com/office/drawing/2014/main" id="{77F118B4-CD35-74CF-683F-856D09401EEB}"/>
              </a:ext>
            </a:extLst>
          </p:cNvPr>
          <p:cNvPicPr>
            <a:picLocks noChangeAspect="1"/>
          </p:cNvPicPr>
          <p:nvPr/>
        </p:nvPicPr>
        <p:blipFill>
          <a:blip r:embed="rId3"/>
          <a:stretch>
            <a:fillRect/>
          </a:stretch>
        </p:blipFill>
        <p:spPr>
          <a:xfrm>
            <a:off x="134048" y="101600"/>
            <a:ext cx="1558247" cy="1583852"/>
          </a:xfrm>
          <a:prstGeom prst="rect">
            <a:avLst/>
          </a:prstGeom>
        </p:spPr>
      </p:pic>
      <p:sp>
        <p:nvSpPr>
          <p:cNvPr id="12" name="TextBox 11">
            <a:extLst>
              <a:ext uri="{FF2B5EF4-FFF2-40B4-BE49-F238E27FC236}">
                <a16:creationId xmlns:a16="http://schemas.microsoft.com/office/drawing/2014/main" id="{EA424CCC-7149-19BA-650C-D90F5309A038}"/>
              </a:ext>
            </a:extLst>
          </p:cNvPr>
          <p:cNvSpPr txBox="1"/>
          <p:nvPr/>
        </p:nvSpPr>
        <p:spPr>
          <a:xfrm>
            <a:off x="134048" y="2127789"/>
            <a:ext cx="3291323" cy="1323439"/>
          </a:xfrm>
          <a:prstGeom prst="rect">
            <a:avLst/>
          </a:prstGeom>
          <a:noFill/>
        </p:spPr>
        <p:txBody>
          <a:bodyPr wrap="square" rtlCol="0">
            <a:spAutoFit/>
          </a:bodyPr>
          <a:lstStyle/>
          <a:p>
            <a:pPr algn="ctr"/>
            <a:r>
              <a:rPr lang="en-US" sz="4000" b="1">
                <a:latin typeface="Calibri" panose="020F0502020204030204" pitchFamily="34" charset="0"/>
                <a:ea typeface="Calibri" panose="020F0502020204030204" pitchFamily="34" charset="0"/>
                <a:cs typeface="Calibri" panose="020F0502020204030204" pitchFamily="34" charset="0"/>
              </a:rPr>
              <a:t>AI Practice Hackathon</a:t>
            </a:r>
          </a:p>
        </p:txBody>
      </p:sp>
      <p:sp>
        <p:nvSpPr>
          <p:cNvPr id="13" name="TextBox 12">
            <a:extLst>
              <a:ext uri="{FF2B5EF4-FFF2-40B4-BE49-F238E27FC236}">
                <a16:creationId xmlns:a16="http://schemas.microsoft.com/office/drawing/2014/main" id="{03DB5AB1-DC49-0F21-5AF3-98C8F20DEEFC}"/>
              </a:ext>
            </a:extLst>
          </p:cNvPr>
          <p:cNvSpPr txBox="1"/>
          <p:nvPr/>
        </p:nvSpPr>
        <p:spPr>
          <a:xfrm>
            <a:off x="134048" y="3770537"/>
            <a:ext cx="3291323" cy="400110"/>
          </a:xfrm>
          <a:prstGeom prst="rect">
            <a:avLst/>
          </a:prstGeom>
          <a:noFill/>
        </p:spPr>
        <p:txBody>
          <a:bodyPr wrap="square" rtlCol="0">
            <a:spAutoFit/>
          </a:bodyPr>
          <a:lstStyle/>
          <a:p>
            <a:pPr algn="ctr"/>
            <a:r>
              <a:rPr lang="en-US" sz="20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rPr>
              <a:t>Team Vector 5 Presents</a:t>
            </a:r>
          </a:p>
        </p:txBody>
      </p:sp>
      <p:sp>
        <p:nvSpPr>
          <p:cNvPr id="14" name="TextBox 13">
            <a:extLst>
              <a:ext uri="{FF2B5EF4-FFF2-40B4-BE49-F238E27FC236}">
                <a16:creationId xmlns:a16="http://schemas.microsoft.com/office/drawing/2014/main" id="{19F445C4-AE38-B738-96D2-1D0B1C5CCACD}"/>
              </a:ext>
            </a:extLst>
          </p:cNvPr>
          <p:cNvSpPr txBox="1"/>
          <p:nvPr/>
        </p:nvSpPr>
        <p:spPr>
          <a:xfrm>
            <a:off x="525934" y="5202493"/>
            <a:ext cx="2899437" cy="954107"/>
          </a:xfrm>
          <a:prstGeom prst="rect">
            <a:avLst/>
          </a:prstGeom>
          <a:noFill/>
        </p:spPr>
        <p:txBody>
          <a:bodyPr wrap="square" rtlCol="0">
            <a:spAutoFit/>
          </a:bodyPr>
          <a:lstStyle/>
          <a:p>
            <a:r>
              <a:rPr lang="en-US" sz="1400" b="1"/>
              <a:t>Team Members:</a:t>
            </a:r>
          </a:p>
          <a:p>
            <a:endParaRPr lang="en-US" sz="1400"/>
          </a:p>
          <a:p>
            <a:r>
              <a:rPr lang="en-US" sz="1400"/>
              <a:t>Kashish Bhagat (TL), Shivam Tyagi</a:t>
            </a:r>
          </a:p>
          <a:p>
            <a:r>
              <a:rPr lang="en-US" sz="1400"/>
              <a:t>Hrishiraj Mallick,  Naman Navneet</a:t>
            </a:r>
          </a:p>
        </p:txBody>
      </p:sp>
      <p:sp>
        <p:nvSpPr>
          <p:cNvPr id="15" name="TextBox 14">
            <a:extLst>
              <a:ext uri="{FF2B5EF4-FFF2-40B4-BE49-F238E27FC236}">
                <a16:creationId xmlns:a16="http://schemas.microsoft.com/office/drawing/2014/main" id="{8C2C230B-44D0-9D5A-38A4-5D3E56B747FA}"/>
              </a:ext>
            </a:extLst>
          </p:cNvPr>
          <p:cNvSpPr txBox="1"/>
          <p:nvPr/>
        </p:nvSpPr>
        <p:spPr>
          <a:xfrm>
            <a:off x="232228" y="4185162"/>
            <a:ext cx="3077029" cy="400110"/>
          </a:xfrm>
          <a:prstGeom prst="rect">
            <a:avLst/>
          </a:prstGeom>
          <a:noFill/>
        </p:spPr>
        <p:txBody>
          <a:bodyPr wrap="square" rtlCol="0">
            <a:spAutoFit/>
          </a:bodyPr>
          <a:lstStyle/>
          <a:p>
            <a:pPr algn="ctr"/>
            <a:r>
              <a:rPr lang="en-US" sz="2000" b="1">
                <a:solidFill>
                  <a:schemeClr val="tx2">
                    <a:lumMod val="75000"/>
                    <a:lumOff val="25000"/>
                  </a:schemeClr>
                </a:solidFill>
              </a:rPr>
              <a:t>PharmRebalance</a:t>
            </a:r>
          </a:p>
        </p:txBody>
      </p:sp>
    </p:spTree>
    <p:extLst>
      <p:ext uri="{BB962C8B-B14F-4D97-AF65-F5344CB8AC3E}">
        <p14:creationId xmlns:p14="http://schemas.microsoft.com/office/powerpoint/2010/main" val="855282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9E6CE-5942-0EE7-4CA4-762AE5522CAD}"/>
            </a:ext>
          </a:extLst>
        </p:cNvPr>
        <p:cNvGrpSpPr/>
        <p:nvPr/>
      </p:nvGrpSpPr>
      <p:grpSpPr>
        <a:xfrm>
          <a:off x="0" y="0"/>
          <a:ext cx="0" cy="0"/>
          <a:chOff x="0" y="0"/>
          <a:chExt cx="0" cy="0"/>
        </a:xfrm>
      </p:grpSpPr>
      <p:pic>
        <p:nvPicPr>
          <p:cNvPr id="2" name="Hackathon">
            <a:hlinkClick r:id="" action="ppaction://media"/>
            <a:extLst>
              <a:ext uri="{FF2B5EF4-FFF2-40B4-BE49-F238E27FC236}">
                <a16:creationId xmlns:a16="http://schemas.microsoft.com/office/drawing/2014/main" id="{D00B4E27-8B92-DCB1-6C02-6F4ECFE3750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282264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64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68182">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88545-802D-C94B-A0B1-9F175D1F77E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756BF77-0A6A-00BE-C3C7-BCB90078F6B0}"/>
              </a:ext>
            </a:extLst>
          </p:cNvPr>
          <p:cNvPicPr>
            <a:picLocks noChangeAspect="1"/>
          </p:cNvPicPr>
          <p:nvPr/>
        </p:nvPicPr>
        <p:blipFill>
          <a:blip r:embed="rId3"/>
          <a:stretch>
            <a:fillRect/>
          </a:stretch>
        </p:blipFill>
        <p:spPr>
          <a:xfrm>
            <a:off x="103740" y="44263"/>
            <a:ext cx="636397" cy="502223"/>
          </a:xfrm>
          <a:prstGeom prst="rect">
            <a:avLst/>
          </a:prstGeom>
        </p:spPr>
      </p:pic>
      <p:cxnSp>
        <p:nvCxnSpPr>
          <p:cNvPr id="7" name="Straight Connector 6">
            <a:extLst>
              <a:ext uri="{FF2B5EF4-FFF2-40B4-BE49-F238E27FC236}">
                <a16:creationId xmlns:a16="http://schemas.microsoft.com/office/drawing/2014/main" id="{3D0A379E-2D8A-CC58-A56C-8297E3608D1A}"/>
              </a:ext>
            </a:extLst>
          </p:cNvPr>
          <p:cNvCxnSpPr>
            <a:cxnSpLocks/>
          </p:cNvCxnSpPr>
          <p:nvPr/>
        </p:nvCxnSpPr>
        <p:spPr>
          <a:xfrm>
            <a:off x="0" y="578236"/>
            <a:ext cx="12192000" cy="0"/>
          </a:xfrm>
          <a:prstGeom prst="line">
            <a:avLst/>
          </a:prstGeom>
          <a:ln w="6350"/>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72AA27BE-5EAB-4E3F-8822-1D8F0A641E49}"/>
              </a:ext>
            </a:extLst>
          </p:cNvPr>
          <p:cNvCxnSpPr>
            <a:cxnSpLocks/>
          </p:cNvCxnSpPr>
          <p:nvPr/>
        </p:nvCxnSpPr>
        <p:spPr>
          <a:xfrm>
            <a:off x="816864"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E6C2EA1-A14C-661E-E0FA-E53C110C28C6}"/>
              </a:ext>
            </a:extLst>
          </p:cNvPr>
          <p:cNvCxnSpPr>
            <a:cxnSpLocks/>
          </p:cNvCxnSpPr>
          <p:nvPr/>
        </p:nvCxnSpPr>
        <p:spPr>
          <a:xfrm>
            <a:off x="8274050"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E9530891-D268-6594-EA7E-679C516236BD}"/>
              </a:ext>
            </a:extLst>
          </p:cNvPr>
          <p:cNvPicPr>
            <a:picLocks noChangeAspect="1"/>
          </p:cNvPicPr>
          <p:nvPr/>
        </p:nvPicPr>
        <p:blipFill>
          <a:blip r:embed="rId4"/>
          <a:srcRect r="1510"/>
          <a:stretch>
            <a:fillRect/>
          </a:stretch>
        </p:blipFill>
        <p:spPr>
          <a:xfrm>
            <a:off x="8427504" y="178010"/>
            <a:ext cx="2950899" cy="259666"/>
          </a:xfrm>
          <a:prstGeom prst="rect">
            <a:avLst/>
          </a:prstGeom>
        </p:spPr>
      </p:pic>
      <p:sp>
        <p:nvSpPr>
          <p:cNvPr id="23" name="TextBox 22">
            <a:extLst>
              <a:ext uri="{FF2B5EF4-FFF2-40B4-BE49-F238E27FC236}">
                <a16:creationId xmlns:a16="http://schemas.microsoft.com/office/drawing/2014/main" id="{BE290044-F677-8D0B-C286-D73525AD9C15}"/>
              </a:ext>
            </a:extLst>
          </p:cNvPr>
          <p:cNvSpPr txBox="1"/>
          <p:nvPr/>
        </p:nvSpPr>
        <p:spPr>
          <a:xfrm>
            <a:off x="11337036" y="53071"/>
            <a:ext cx="774613" cy="461665"/>
          </a:xfrm>
          <a:prstGeom prst="rect">
            <a:avLst/>
          </a:prstGeom>
          <a:noFill/>
        </p:spPr>
        <p:txBody>
          <a:bodyPr wrap="square" rtlCol="0">
            <a:spAutoFit/>
          </a:bodyPr>
          <a:lstStyle/>
          <a:p>
            <a:r>
              <a:rPr lang="en-US" sz="2400">
                <a:latin typeface="Calibri" panose="020F0502020204030204" pitchFamily="34" charset="0"/>
                <a:ea typeface="Calibri" panose="020F0502020204030204" pitchFamily="34" charset="0"/>
                <a:cs typeface="Calibri" panose="020F0502020204030204" pitchFamily="34" charset="0"/>
              </a:rPr>
              <a:t>now</a:t>
            </a:r>
          </a:p>
        </p:txBody>
      </p:sp>
      <p:sp>
        <p:nvSpPr>
          <p:cNvPr id="25" name="TextBox 24">
            <a:extLst>
              <a:ext uri="{FF2B5EF4-FFF2-40B4-BE49-F238E27FC236}">
                <a16:creationId xmlns:a16="http://schemas.microsoft.com/office/drawing/2014/main" id="{914849C0-BBE1-CD58-B856-0823F5DD89FF}"/>
              </a:ext>
            </a:extLst>
          </p:cNvPr>
          <p:cNvSpPr txBox="1"/>
          <p:nvPr/>
        </p:nvSpPr>
        <p:spPr>
          <a:xfrm>
            <a:off x="799628" y="-5015"/>
            <a:ext cx="7474415" cy="584775"/>
          </a:xfrm>
          <a:prstGeom prst="rect">
            <a:avLst/>
          </a:prstGeom>
          <a:solidFill>
            <a:schemeClr val="accent2"/>
          </a:solidFill>
        </p:spPr>
        <p:txBody>
          <a:bodyPr wrap="square" rtlCol="0">
            <a:spAutoFit/>
          </a:bodyPr>
          <a:lstStyle/>
          <a:p>
            <a:pPr algn="ctr"/>
            <a:r>
              <a:rPr lang="en-US" sz="3200">
                <a:solidFill>
                  <a:schemeClr val="bg1"/>
                </a:solidFill>
                <a:latin typeface="Times New Roman" panose="02020603050405020304" pitchFamily="18" charset="0"/>
                <a:cs typeface="Times New Roman" panose="02020603050405020304" pitchFamily="18" charset="0"/>
              </a:rPr>
              <a:t>Problem Statement Overview</a:t>
            </a:r>
          </a:p>
        </p:txBody>
      </p:sp>
      <p:sp>
        <p:nvSpPr>
          <p:cNvPr id="2" name="Rectangle 1">
            <a:extLst>
              <a:ext uri="{FF2B5EF4-FFF2-40B4-BE49-F238E27FC236}">
                <a16:creationId xmlns:a16="http://schemas.microsoft.com/office/drawing/2014/main" id="{A0EB1744-EE42-F33D-BFED-99D1EF62DDC3}"/>
              </a:ext>
            </a:extLst>
          </p:cNvPr>
          <p:cNvSpPr/>
          <p:nvPr/>
        </p:nvSpPr>
        <p:spPr>
          <a:xfrm>
            <a:off x="103740" y="1053928"/>
            <a:ext cx="2822340" cy="143901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a:solidFill>
                  <a:schemeClr val="tx1"/>
                </a:solidFill>
              </a:rPr>
              <a:t>Traditional </a:t>
            </a:r>
            <a:r>
              <a:rPr lang="en-US" sz="1400" b="1">
                <a:solidFill>
                  <a:schemeClr val="tx1"/>
                </a:solidFill>
              </a:rPr>
              <a:t>SCM Operations are siloed in nature</a:t>
            </a:r>
            <a:r>
              <a:rPr lang="en-US" sz="1400">
                <a:solidFill>
                  <a:schemeClr val="tx1"/>
                </a:solidFill>
              </a:rPr>
              <a:t>. Transfer team decides transfers. Supply team decides orders. Expiry team tries to prevent wastes</a:t>
            </a:r>
            <a:r>
              <a:rPr lang="en-US" sz="1400" b="1">
                <a:solidFill>
                  <a:schemeClr val="tx1"/>
                </a:solidFill>
              </a:rPr>
              <a:t>. No one talks to each other.</a:t>
            </a:r>
          </a:p>
        </p:txBody>
      </p:sp>
      <p:cxnSp>
        <p:nvCxnSpPr>
          <p:cNvPr id="9" name="Straight Arrow Connector 8">
            <a:extLst>
              <a:ext uri="{FF2B5EF4-FFF2-40B4-BE49-F238E27FC236}">
                <a16:creationId xmlns:a16="http://schemas.microsoft.com/office/drawing/2014/main" id="{2F309D69-D3A9-E484-C377-7A3D8F1DB3E2}"/>
              </a:ext>
            </a:extLst>
          </p:cNvPr>
          <p:cNvCxnSpPr>
            <a:cxnSpLocks/>
            <a:endCxn id="12" idx="1"/>
          </p:cNvCxnSpPr>
          <p:nvPr/>
        </p:nvCxnSpPr>
        <p:spPr>
          <a:xfrm>
            <a:off x="2926080" y="1665893"/>
            <a:ext cx="5038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8A0D3F02-CBA4-D393-F918-6CC47498C76F}"/>
              </a:ext>
            </a:extLst>
          </p:cNvPr>
          <p:cNvSpPr/>
          <p:nvPr/>
        </p:nvSpPr>
        <p:spPr>
          <a:xfrm>
            <a:off x="3429964" y="1098723"/>
            <a:ext cx="1289784" cy="1134340"/>
          </a:xfrm>
          <a:prstGeom prst="roundRect">
            <a:avLst>
              <a:gd name="adj" fmla="val 903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ysClr val="windowText" lastClr="000000"/>
                </a:solidFill>
              </a:rPr>
              <a:t>Agentic Approach Steps in</a:t>
            </a:r>
          </a:p>
        </p:txBody>
      </p:sp>
      <p:sp>
        <p:nvSpPr>
          <p:cNvPr id="22" name="Rectangle: Rounded Corners 21">
            <a:extLst>
              <a:ext uri="{FF2B5EF4-FFF2-40B4-BE49-F238E27FC236}">
                <a16:creationId xmlns:a16="http://schemas.microsoft.com/office/drawing/2014/main" id="{4143843F-57DB-FBDE-1D6E-16E5F317F1C5}"/>
              </a:ext>
            </a:extLst>
          </p:cNvPr>
          <p:cNvSpPr/>
          <p:nvPr/>
        </p:nvSpPr>
        <p:spPr>
          <a:xfrm>
            <a:off x="103741" y="2771276"/>
            <a:ext cx="4616004" cy="810340"/>
          </a:xfrm>
          <a:prstGeom prst="roundRect">
            <a:avLst>
              <a:gd name="adj" fmla="val 10979"/>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ysClr val="windowText" lastClr="000000"/>
                </a:solidFill>
              </a:rPr>
              <a:t> Provides a unified and intelligent platform where all these functions talk to each      other in real time, optimize and resolve conflicts </a:t>
            </a:r>
          </a:p>
        </p:txBody>
      </p:sp>
      <p:cxnSp>
        <p:nvCxnSpPr>
          <p:cNvPr id="26" name="Connector: Elbow 25">
            <a:extLst>
              <a:ext uri="{FF2B5EF4-FFF2-40B4-BE49-F238E27FC236}">
                <a16:creationId xmlns:a16="http://schemas.microsoft.com/office/drawing/2014/main" id="{5AA344DF-A5D9-36ED-29F9-B114BC6A47B5}"/>
              </a:ext>
            </a:extLst>
          </p:cNvPr>
          <p:cNvCxnSpPr>
            <a:cxnSpLocks/>
          </p:cNvCxnSpPr>
          <p:nvPr/>
        </p:nvCxnSpPr>
        <p:spPr>
          <a:xfrm rot="5400000">
            <a:off x="2979006" y="1656173"/>
            <a:ext cx="528588" cy="1663113"/>
          </a:xfrm>
          <a:prstGeom prst="bentConnector3">
            <a:avLst>
              <a:gd name="adj1" fmla="val 6244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46" name="Group 45">
            <a:extLst>
              <a:ext uri="{FF2B5EF4-FFF2-40B4-BE49-F238E27FC236}">
                <a16:creationId xmlns:a16="http://schemas.microsoft.com/office/drawing/2014/main" id="{E544B127-D9B9-208D-A71D-8415A2F42EA1}"/>
              </a:ext>
            </a:extLst>
          </p:cNvPr>
          <p:cNvGrpSpPr/>
          <p:nvPr/>
        </p:nvGrpSpPr>
        <p:grpSpPr>
          <a:xfrm>
            <a:off x="60214" y="3823635"/>
            <a:ext cx="4659527" cy="2077274"/>
            <a:chOff x="60214" y="3756260"/>
            <a:chExt cx="4659527" cy="2077274"/>
          </a:xfrm>
        </p:grpSpPr>
        <p:sp>
          <p:nvSpPr>
            <p:cNvPr id="35" name="Rectangle: Rounded Corners 34">
              <a:extLst>
                <a:ext uri="{FF2B5EF4-FFF2-40B4-BE49-F238E27FC236}">
                  <a16:creationId xmlns:a16="http://schemas.microsoft.com/office/drawing/2014/main" id="{790780A9-7984-BF63-26BF-BA811BCD6B6F}"/>
                </a:ext>
              </a:extLst>
            </p:cNvPr>
            <p:cNvSpPr/>
            <p:nvPr/>
          </p:nvSpPr>
          <p:spPr>
            <a:xfrm>
              <a:off x="103740" y="3756260"/>
              <a:ext cx="4616001" cy="2077274"/>
            </a:xfrm>
            <a:prstGeom prst="roundRect">
              <a:avLst>
                <a:gd name="adj" fmla="val 4376"/>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C28BEF30-544D-ADE0-D1BE-FEFAE31D7FE5}"/>
                </a:ext>
              </a:extLst>
            </p:cNvPr>
            <p:cNvSpPr txBox="1"/>
            <p:nvPr/>
          </p:nvSpPr>
          <p:spPr>
            <a:xfrm>
              <a:off x="202131" y="3840480"/>
              <a:ext cx="2209612" cy="338554"/>
            </a:xfrm>
            <a:prstGeom prst="rect">
              <a:avLst/>
            </a:prstGeom>
            <a:noFill/>
          </p:spPr>
          <p:txBody>
            <a:bodyPr wrap="square" rtlCol="0">
              <a:spAutoFit/>
            </a:bodyPr>
            <a:lstStyle/>
            <a:p>
              <a:r>
                <a:rPr lang="en-US" sz="1600" b="1"/>
                <a:t>MEET THE AGENTS</a:t>
              </a:r>
            </a:p>
          </p:txBody>
        </p:sp>
        <p:grpSp>
          <p:nvGrpSpPr>
            <p:cNvPr id="40" name="Group 39">
              <a:extLst>
                <a:ext uri="{FF2B5EF4-FFF2-40B4-BE49-F238E27FC236}">
                  <a16:creationId xmlns:a16="http://schemas.microsoft.com/office/drawing/2014/main" id="{7ED6793D-DA6B-BF98-B9F9-7A59EEDF6DF3}"/>
                </a:ext>
              </a:extLst>
            </p:cNvPr>
            <p:cNvGrpSpPr/>
            <p:nvPr/>
          </p:nvGrpSpPr>
          <p:grpSpPr>
            <a:xfrm>
              <a:off x="60214" y="4188659"/>
              <a:ext cx="4476621" cy="1122940"/>
              <a:chOff x="66369" y="4219916"/>
              <a:chExt cx="4476621" cy="1122940"/>
            </a:xfrm>
          </p:grpSpPr>
          <p:pic>
            <p:nvPicPr>
              <p:cNvPr id="1026" name="Picture 2" descr="Chat bot - Free technology icons">
                <a:extLst>
                  <a:ext uri="{FF2B5EF4-FFF2-40B4-BE49-F238E27FC236}">
                    <a16:creationId xmlns:a16="http://schemas.microsoft.com/office/drawing/2014/main" id="{6315A719-0A07-75D4-975E-70C74BBE9091}"/>
                  </a:ext>
                </a:extLst>
              </p:cNvPr>
              <p:cNvPicPr>
                <a:picLocks noChangeAspect="1" noChangeArrowheads="1"/>
              </p:cNvPicPr>
              <p:nvPr/>
            </p:nvPicPr>
            <p:blipFill>
              <a:blip r:embed="rId5">
                <a:duotone>
                  <a:schemeClr val="accent1">
                    <a:shade val="45000"/>
                    <a:satMod val="135000"/>
                  </a:schemeClr>
                  <a:prstClr val="white"/>
                </a:duotone>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66369" y="4219916"/>
                <a:ext cx="1122940" cy="112294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Chat bot - Free technology icons">
                <a:extLst>
                  <a:ext uri="{FF2B5EF4-FFF2-40B4-BE49-F238E27FC236}">
                    <a16:creationId xmlns:a16="http://schemas.microsoft.com/office/drawing/2014/main" id="{FB805753-3B90-AFB7-66AF-CD39316851FD}"/>
                  </a:ext>
                </a:extLst>
              </p:cNvPr>
              <p:cNvPicPr>
                <a:picLocks noChangeAspect="1" noChangeArrowheads="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189309" y="4219916"/>
                <a:ext cx="1122940" cy="112294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Chat bot - Free technology icons">
                <a:extLst>
                  <a:ext uri="{FF2B5EF4-FFF2-40B4-BE49-F238E27FC236}">
                    <a16:creationId xmlns:a16="http://schemas.microsoft.com/office/drawing/2014/main" id="{C19C099E-8EF8-5A36-4D0B-6DEEA49F4BFC}"/>
                  </a:ext>
                </a:extLst>
              </p:cNvPr>
              <p:cNvPicPr>
                <a:picLocks noChangeAspect="1" noChangeArrowheads="1"/>
              </p:cNvPicPr>
              <p:nvPr/>
            </p:nvPicPr>
            <p:blipFill>
              <a:blip r:embed="rId5">
                <a:duotone>
                  <a:schemeClr val="accent3">
                    <a:shade val="45000"/>
                    <a:satMod val="135000"/>
                  </a:schemeClr>
                  <a:prstClr val="white"/>
                </a:duotone>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243348" y="4219916"/>
                <a:ext cx="1122940" cy="112294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Chat bot - Free technology icons">
                <a:extLst>
                  <a:ext uri="{FF2B5EF4-FFF2-40B4-BE49-F238E27FC236}">
                    <a16:creationId xmlns:a16="http://schemas.microsoft.com/office/drawing/2014/main" id="{7C5778CF-642A-1B46-C5D1-B08C62A22F7D}"/>
                  </a:ext>
                </a:extLst>
              </p:cNvPr>
              <p:cNvPicPr>
                <a:picLocks noChangeAspect="1" noChangeArrowheads="1"/>
              </p:cNvPicPr>
              <p:nvPr/>
            </p:nvPicPr>
            <p:blipFill>
              <a:blip r:embed="rId5">
                <a:duotone>
                  <a:schemeClr val="accent5">
                    <a:shade val="45000"/>
                    <a:satMod val="135000"/>
                  </a:schemeClr>
                  <a:prstClr val="white"/>
                </a:duotone>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420050" y="4219916"/>
                <a:ext cx="1122940" cy="1122940"/>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TextBox 40">
              <a:extLst>
                <a:ext uri="{FF2B5EF4-FFF2-40B4-BE49-F238E27FC236}">
                  <a16:creationId xmlns:a16="http://schemas.microsoft.com/office/drawing/2014/main" id="{B69A8920-48C6-9B28-958A-ED1919E5C962}"/>
                </a:ext>
              </a:extLst>
            </p:cNvPr>
            <p:cNvSpPr txBox="1"/>
            <p:nvPr/>
          </p:nvSpPr>
          <p:spPr>
            <a:xfrm>
              <a:off x="234245" y="5305810"/>
              <a:ext cx="818147" cy="430887"/>
            </a:xfrm>
            <a:prstGeom prst="rect">
              <a:avLst/>
            </a:prstGeom>
            <a:noFill/>
          </p:spPr>
          <p:txBody>
            <a:bodyPr wrap="square" rtlCol="0">
              <a:spAutoFit/>
            </a:bodyPr>
            <a:lstStyle/>
            <a:p>
              <a:pPr algn="ctr"/>
              <a:r>
                <a:rPr lang="en-US" sz="1100" b="1">
                  <a:solidFill>
                    <a:srgbClr val="386E88"/>
                  </a:solidFill>
                </a:rPr>
                <a:t>Transfer Optimizer</a:t>
              </a:r>
            </a:p>
          </p:txBody>
        </p:sp>
        <p:sp>
          <p:nvSpPr>
            <p:cNvPr id="42" name="TextBox 41">
              <a:extLst>
                <a:ext uri="{FF2B5EF4-FFF2-40B4-BE49-F238E27FC236}">
                  <a16:creationId xmlns:a16="http://schemas.microsoft.com/office/drawing/2014/main" id="{90354318-B6A1-7230-0EDE-B746832B5D57}"/>
                </a:ext>
              </a:extLst>
            </p:cNvPr>
            <p:cNvSpPr txBox="1"/>
            <p:nvPr/>
          </p:nvSpPr>
          <p:spPr>
            <a:xfrm>
              <a:off x="1365020" y="5313552"/>
              <a:ext cx="818147" cy="400110"/>
            </a:xfrm>
            <a:prstGeom prst="rect">
              <a:avLst/>
            </a:prstGeom>
            <a:noFill/>
          </p:spPr>
          <p:txBody>
            <a:bodyPr wrap="square" rtlCol="0">
              <a:spAutoFit/>
            </a:bodyPr>
            <a:lstStyle/>
            <a:p>
              <a:pPr algn="ctr"/>
              <a:r>
                <a:rPr lang="en-US" sz="1000" b="1">
                  <a:solidFill>
                    <a:srgbClr val="C96E3F"/>
                  </a:solidFill>
                </a:rPr>
                <a:t>Supply Adjuster</a:t>
              </a:r>
            </a:p>
          </p:txBody>
        </p:sp>
        <p:sp>
          <p:nvSpPr>
            <p:cNvPr id="43" name="TextBox 42">
              <a:extLst>
                <a:ext uri="{FF2B5EF4-FFF2-40B4-BE49-F238E27FC236}">
                  <a16:creationId xmlns:a16="http://schemas.microsoft.com/office/drawing/2014/main" id="{0E3278F8-D4CD-9543-720E-35177419366D}"/>
                </a:ext>
              </a:extLst>
            </p:cNvPr>
            <p:cNvSpPr txBox="1"/>
            <p:nvPr/>
          </p:nvSpPr>
          <p:spPr>
            <a:xfrm>
              <a:off x="2412842" y="5306529"/>
              <a:ext cx="818147" cy="400110"/>
            </a:xfrm>
            <a:prstGeom prst="rect">
              <a:avLst/>
            </a:prstGeom>
            <a:noFill/>
          </p:spPr>
          <p:txBody>
            <a:bodyPr wrap="square" rtlCol="0">
              <a:spAutoFit/>
            </a:bodyPr>
            <a:lstStyle/>
            <a:p>
              <a:pPr algn="ctr"/>
              <a:r>
                <a:rPr lang="en-US" sz="1000" b="1">
                  <a:solidFill>
                    <a:srgbClr val="2B6E34"/>
                  </a:solidFill>
                </a:rPr>
                <a:t>Expiry Manager </a:t>
              </a:r>
            </a:p>
          </p:txBody>
        </p:sp>
        <p:sp>
          <p:nvSpPr>
            <p:cNvPr id="44" name="TextBox 43">
              <a:extLst>
                <a:ext uri="{FF2B5EF4-FFF2-40B4-BE49-F238E27FC236}">
                  <a16:creationId xmlns:a16="http://schemas.microsoft.com/office/drawing/2014/main" id="{D2F54A60-1E58-392A-C937-64EA3BD5DF37}"/>
                </a:ext>
              </a:extLst>
            </p:cNvPr>
            <p:cNvSpPr txBox="1"/>
            <p:nvPr/>
          </p:nvSpPr>
          <p:spPr>
            <a:xfrm>
              <a:off x="3589808" y="5305810"/>
              <a:ext cx="818147" cy="400110"/>
            </a:xfrm>
            <a:prstGeom prst="rect">
              <a:avLst/>
            </a:prstGeom>
            <a:noFill/>
          </p:spPr>
          <p:txBody>
            <a:bodyPr wrap="square" rtlCol="0">
              <a:spAutoFit/>
            </a:bodyPr>
            <a:lstStyle/>
            <a:p>
              <a:pPr algn="ctr"/>
              <a:r>
                <a:rPr lang="en-US" sz="1000" b="1">
                  <a:solidFill>
                    <a:srgbClr val="913287"/>
                  </a:solidFill>
                </a:rPr>
                <a:t>Simulation Engine</a:t>
              </a:r>
            </a:p>
          </p:txBody>
        </p:sp>
      </p:grpSp>
      <p:cxnSp>
        <p:nvCxnSpPr>
          <p:cNvPr id="48" name="Straight Arrow Connector 47">
            <a:extLst>
              <a:ext uri="{FF2B5EF4-FFF2-40B4-BE49-F238E27FC236}">
                <a16:creationId xmlns:a16="http://schemas.microsoft.com/office/drawing/2014/main" id="{D3E7B9D2-78D4-A866-126E-BE7A93E8BBE6}"/>
              </a:ext>
            </a:extLst>
          </p:cNvPr>
          <p:cNvCxnSpPr>
            <a:stCxn id="22" idx="2"/>
          </p:cNvCxnSpPr>
          <p:nvPr/>
        </p:nvCxnSpPr>
        <p:spPr>
          <a:xfrm>
            <a:off x="2411743" y="3581616"/>
            <a:ext cx="0" cy="2420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Rectangle: Rounded Corners 48">
            <a:extLst>
              <a:ext uri="{FF2B5EF4-FFF2-40B4-BE49-F238E27FC236}">
                <a16:creationId xmlns:a16="http://schemas.microsoft.com/office/drawing/2014/main" id="{8DF79195-7E64-7341-9810-17A5E12B3066}"/>
              </a:ext>
            </a:extLst>
          </p:cNvPr>
          <p:cNvSpPr/>
          <p:nvPr/>
        </p:nvSpPr>
        <p:spPr>
          <a:xfrm>
            <a:off x="103739" y="6116067"/>
            <a:ext cx="4616001" cy="549705"/>
          </a:xfrm>
          <a:prstGeom prst="roundRect">
            <a:avLst>
              <a:gd name="adj" fmla="val 10979"/>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ysClr val="windowText" lastClr="000000"/>
                </a:solidFill>
              </a:rPr>
              <a:t> Each agent represents a critical part of SCM !</a:t>
            </a:r>
          </a:p>
        </p:txBody>
      </p:sp>
      <p:cxnSp>
        <p:nvCxnSpPr>
          <p:cNvPr id="51" name="Straight Arrow Connector 50">
            <a:extLst>
              <a:ext uri="{FF2B5EF4-FFF2-40B4-BE49-F238E27FC236}">
                <a16:creationId xmlns:a16="http://schemas.microsoft.com/office/drawing/2014/main" id="{BCC3A8D5-6282-5464-471A-841F3FF8EA3D}"/>
              </a:ext>
            </a:extLst>
          </p:cNvPr>
          <p:cNvCxnSpPr>
            <a:cxnSpLocks/>
            <a:stCxn id="35" idx="2"/>
            <a:endCxn id="49" idx="0"/>
          </p:cNvCxnSpPr>
          <p:nvPr/>
        </p:nvCxnSpPr>
        <p:spPr>
          <a:xfrm flipH="1">
            <a:off x="2411740" y="5900909"/>
            <a:ext cx="1" cy="2151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F00E4025-7725-1723-67A9-3E630351D152}"/>
              </a:ext>
            </a:extLst>
          </p:cNvPr>
          <p:cNvSpPr txBox="1"/>
          <p:nvPr/>
        </p:nvSpPr>
        <p:spPr>
          <a:xfrm>
            <a:off x="1201685" y="655721"/>
            <a:ext cx="2773680" cy="369332"/>
          </a:xfrm>
          <a:prstGeom prst="rect">
            <a:avLst/>
          </a:prstGeom>
          <a:noFill/>
        </p:spPr>
        <p:txBody>
          <a:bodyPr wrap="square" rtlCol="0">
            <a:spAutoFit/>
          </a:bodyPr>
          <a:lstStyle/>
          <a:p>
            <a:r>
              <a:rPr lang="en-US" b="1"/>
              <a:t>PROBLEM STATEMENT</a:t>
            </a:r>
          </a:p>
        </p:txBody>
      </p:sp>
      <p:sp>
        <p:nvSpPr>
          <p:cNvPr id="63" name="TextBox 62">
            <a:extLst>
              <a:ext uri="{FF2B5EF4-FFF2-40B4-BE49-F238E27FC236}">
                <a16:creationId xmlns:a16="http://schemas.microsoft.com/office/drawing/2014/main" id="{1369FE26-E204-5CAB-E33E-5BBAB8F82B29}"/>
              </a:ext>
            </a:extLst>
          </p:cNvPr>
          <p:cNvSpPr txBox="1"/>
          <p:nvPr/>
        </p:nvSpPr>
        <p:spPr>
          <a:xfrm>
            <a:off x="5526141" y="627259"/>
            <a:ext cx="6072027" cy="369332"/>
          </a:xfrm>
          <a:prstGeom prst="rect">
            <a:avLst/>
          </a:prstGeom>
          <a:noFill/>
        </p:spPr>
        <p:txBody>
          <a:bodyPr wrap="square" rtlCol="0">
            <a:spAutoFit/>
          </a:bodyPr>
          <a:lstStyle/>
          <a:p>
            <a:pPr algn="ctr"/>
            <a:r>
              <a:rPr lang="en-US" b="1"/>
              <a:t>GOING FROM DATA TO DECISION</a:t>
            </a:r>
          </a:p>
        </p:txBody>
      </p:sp>
      <p:sp>
        <p:nvSpPr>
          <p:cNvPr id="1024" name="Rectangle 1023">
            <a:extLst>
              <a:ext uri="{FF2B5EF4-FFF2-40B4-BE49-F238E27FC236}">
                <a16:creationId xmlns:a16="http://schemas.microsoft.com/office/drawing/2014/main" id="{EB3B91EE-ADAF-FD35-DB2E-C712B214B733}"/>
              </a:ext>
            </a:extLst>
          </p:cNvPr>
          <p:cNvSpPr/>
          <p:nvPr/>
        </p:nvSpPr>
        <p:spPr>
          <a:xfrm>
            <a:off x="5181718" y="1053928"/>
            <a:ext cx="3509895" cy="102217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a:solidFill>
                  <a:schemeClr val="tx1"/>
                </a:solidFill>
              </a:rPr>
              <a:t>The System is fed </a:t>
            </a:r>
            <a:r>
              <a:rPr lang="en-US" sz="1400" b="1">
                <a:solidFill>
                  <a:schemeClr val="tx1"/>
                </a:solidFill>
              </a:rPr>
              <a:t>11 datasets </a:t>
            </a:r>
            <a:r>
              <a:rPr lang="en-US" sz="1400">
                <a:solidFill>
                  <a:schemeClr val="tx1"/>
                </a:solidFill>
              </a:rPr>
              <a:t>containing information on SKUs, </a:t>
            </a:r>
            <a:r>
              <a:rPr lang="en-US" sz="1400" b="1">
                <a:solidFill>
                  <a:schemeClr val="tx1"/>
                </a:solidFill>
              </a:rPr>
              <a:t>Supply Elements, Demand Elements, Forecast</a:t>
            </a:r>
            <a:r>
              <a:rPr lang="en-US" sz="1400">
                <a:solidFill>
                  <a:schemeClr val="tx1"/>
                </a:solidFill>
              </a:rPr>
              <a:t>, Route Maps and Plans</a:t>
            </a:r>
          </a:p>
        </p:txBody>
      </p:sp>
      <p:cxnSp>
        <p:nvCxnSpPr>
          <p:cNvPr id="1027" name="Connector: Elbow 1026">
            <a:extLst>
              <a:ext uri="{FF2B5EF4-FFF2-40B4-BE49-F238E27FC236}">
                <a16:creationId xmlns:a16="http://schemas.microsoft.com/office/drawing/2014/main" id="{34EDCD8F-6D24-5700-3BFC-B4E3C1CDFC0A}"/>
              </a:ext>
            </a:extLst>
          </p:cNvPr>
          <p:cNvCxnSpPr>
            <a:cxnSpLocks/>
            <a:stCxn id="49" idx="3"/>
            <a:endCxn id="1024" idx="1"/>
          </p:cNvCxnSpPr>
          <p:nvPr/>
        </p:nvCxnSpPr>
        <p:spPr>
          <a:xfrm flipV="1">
            <a:off x="4719740" y="1565017"/>
            <a:ext cx="461978" cy="482590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45" name="Group 44">
            <a:extLst>
              <a:ext uri="{FF2B5EF4-FFF2-40B4-BE49-F238E27FC236}">
                <a16:creationId xmlns:a16="http://schemas.microsoft.com/office/drawing/2014/main" id="{33A6B57E-55F0-5C71-79DE-A9CE114C2252}"/>
              </a:ext>
            </a:extLst>
          </p:cNvPr>
          <p:cNvGrpSpPr/>
          <p:nvPr/>
        </p:nvGrpSpPr>
        <p:grpSpPr>
          <a:xfrm>
            <a:off x="5225857" y="2487729"/>
            <a:ext cx="6755793" cy="2392872"/>
            <a:chOff x="5223631" y="2233063"/>
            <a:chExt cx="6586567" cy="2146432"/>
          </a:xfrm>
        </p:grpSpPr>
        <p:sp>
          <p:nvSpPr>
            <p:cNvPr id="3" name="Rectangle: Rounded Corners 2">
              <a:extLst>
                <a:ext uri="{FF2B5EF4-FFF2-40B4-BE49-F238E27FC236}">
                  <a16:creationId xmlns:a16="http://schemas.microsoft.com/office/drawing/2014/main" id="{CE3346EB-93C4-35DC-8E1F-1387B6CC23C4}"/>
                </a:ext>
              </a:extLst>
            </p:cNvPr>
            <p:cNvSpPr/>
            <p:nvPr/>
          </p:nvSpPr>
          <p:spPr>
            <a:xfrm>
              <a:off x="5223631" y="2233063"/>
              <a:ext cx="6586567" cy="2146432"/>
            </a:xfrm>
            <a:prstGeom prst="roundRect">
              <a:avLst>
                <a:gd name="adj" fmla="val 786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569E4D32-D5EA-7EAE-1167-747C8E60B554}"/>
                </a:ext>
              </a:extLst>
            </p:cNvPr>
            <p:cNvGrpSpPr/>
            <p:nvPr/>
          </p:nvGrpSpPr>
          <p:grpSpPr>
            <a:xfrm>
              <a:off x="8535339" y="2768897"/>
              <a:ext cx="1302286" cy="1490700"/>
              <a:chOff x="8529849" y="2831398"/>
              <a:chExt cx="1302286" cy="1490700"/>
            </a:xfrm>
          </p:grpSpPr>
          <p:sp>
            <p:nvSpPr>
              <p:cNvPr id="8" name="TextBox 7">
                <a:extLst>
                  <a:ext uri="{FF2B5EF4-FFF2-40B4-BE49-F238E27FC236}">
                    <a16:creationId xmlns:a16="http://schemas.microsoft.com/office/drawing/2014/main" id="{EDBFBE87-181F-ED87-918A-D5B8A89CBC9A}"/>
                  </a:ext>
                </a:extLst>
              </p:cNvPr>
              <p:cNvSpPr txBox="1"/>
              <p:nvPr/>
            </p:nvSpPr>
            <p:spPr>
              <a:xfrm>
                <a:off x="8529849" y="3745017"/>
                <a:ext cx="1302286" cy="577081"/>
              </a:xfrm>
              <a:prstGeom prst="rect">
                <a:avLst/>
              </a:prstGeom>
              <a:noFill/>
            </p:spPr>
            <p:txBody>
              <a:bodyPr wrap="square" rtlCol="0">
                <a:spAutoFit/>
              </a:bodyPr>
              <a:lstStyle/>
              <a:p>
                <a:pPr algn="ctr"/>
                <a:r>
                  <a:rPr lang="en-US" sz="1050" b="1"/>
                  <a:t>Therapeutic Criticality vs Inventory Balance</a:t>
                </a:r>
              </a:p>
            </p:txBody>
          </p:sp>
          <p:pic>
            <p:nvPicPr>
              <p:cNvPr id="15" name="Picture 14">
                <a:extLst>
                  <a:ext uri="{FF2B5EF4-FFF2-40B4-BE49-F238E27FC236}">
                    <a16:creationId xmlns:a16="http://schemas.microsoft.com/office/drawing/2014/main" id="{DCEF2A98-DC25-1820-9BDC-93FA81877D81}"/>
                  </a:ext>
                </a:extLst>
              </p:cNvPr>
              <p:cNvPicPr>
                <a:picLocks noChangeAspect="1"/>
              </p:cNvPicPr>
              <p:nvPr/>
            </p:nvPicPr>
            <p:blipFill>
              <a:blip r:embed="rId7"/>
              <a:stretch>
                <a:fillRect/>
              </a:stretch>
            </p:blipFill>
            <p:spPr>
              <a:xfrm>
                <a:off x="8751860" y="2831398"/>
                <a:ext cx="918822" cy="918822"/>
              </a:xfrm>
              <a:prstGeom prst="rect">
                <a:avLst/>
              </a:prstGeom>
            </p:spPr>
          </p:pic>
        </p:grpSp>
        <p:grpSp>
          <p:nvGrpSpPr>
            <p:cNvPr id="30" name="Group 29">
              <a:extLst>
                <a:ext uri="{FF2B5EF4-FFF2-40B4-BE49-F238E27FC236}">
                  <a16:creationId xmlns:a16="http://schemas.microsoft.com/office/drawing/2014/main" id="{F07DA4D9-13A2-5812-ECD0-A7D9989D31C5}"/>
                </a:ext>
              </a:extLst>
            </p:cNvPr>
            <p:cNvGrpSpPr/>
            <p:nvPr/>
          </p:nvGrpSpPr>
          <p:grpSpPr>
            <a:xfrm>
              <a:off x="6980266" y="2751069"/>
              <a:ext cx="1187109" cy="1513840"/>
              <a:chOff x="7178331" y="2724088"/>
              <a:chExt cx="1187109" cy="1513840"/>
            </a:xfrm>
          </p:grpSpPr>
          <p:pic>
            <p:nvPicPr>
              <p:cNvPr id="13" name="Picture 12">
                <a:extLst>
                  <a:ext uri="{FF2B5EF4-FFF2-40B4-BE49-F238E27FC236}">
                    <a16:creationId xmlns:a16="http://schemas.microsoft.com/office/drawing/2014/main" id="{DB148557-165C-C61A-0CA9-A9F076F85082}"/>
                  </a:ext>
                </a:extLst>
              </p:cNvPr>
              <p:cNvPicPr>
                <a:picLocks noChangeAspect="1"/>
              </p:cNvPicPr>
              <p:nvPr/>
            </p:nvPicPr>
            <p:blipFill>
              <a:blip r:embed="rId8"/>
              <a:stretch>
                <a:fillRect/>
              </a:stretch>
            </p:blipFill>
            <p:spPr>
              <a:xfrm>
                <a:off x="7312476" y="2724088"/>
                <a:ext cx="918822" cy="918822"/>
              </a:xfrm>
              <a:prstGeom prst="rect">
                <a:avLst/>
              </a:prstGeom>
            </p:spPr>
          </p:pic>
          <p:sp>
            <p:nvSpPr>
              <p:cNvPr id="16" name="TextBox 15">
                <a:extLst>
                  <a:ext uri="{FF2B5EF4-FFF2-40B4-BE49-F238E27FC236}">
                    <a16:creationId xmlns:a16="http://schemas.microsoft.com/office/drawing/2014/main" id="{4A1CE07C-1F8A-AEF2-7E57-0C2A2D1802FF}"/>
                  </a:ext>
                </a:extLst>
              </p:cNvPr>
              <p:cNvSpPr txBox="1"/>
              <p:nvPr/>
            </p:nvSpPr>
            <p:spPr>
              <a:xfrm>
                <a:off x="7178331" y="3660847"/>
                <a:ext cx="1187109" cy="577081"/>
              </a:xfrm>
              <a:prstGeom prst="rect">
                <a:avLst/>
              </a:prstGeom>
              <a:noFill/>
            </p:spPr>
            <p:txBody>
              <a:bodyPr wrap="square" rtlCol="0">
                <a:spAutoFit/>
              </a:bodyPr>
              <a:lstStyle/>
              <a:p>
                <a:pPr algn="ctr"/>
                <a:r>
                  <a:rPr lang="en-US" sz="1050" b="1"/>
                  <a:t>Cold Chain Constraints vs Optimal Route</a:t>
                </a:r>
              </a:p>
            </p:txBody>
          </p:sp>
        </p:grpSp>
        <p:grpSp>
          <p:nvGrpSpPr>
            <p:cNvPr id="29" name="Group 28">
              <a:extLst>
                <a:ext uri="{FF2B5EF4-FFF2-40B4-BE49-F238E27FC236}">
                  <a16:creationId xmlns:a16="http://schemas.microsoft.com/office/drawing/2014/main" id="{79F5519A-A4ED-22AE-DE92-4D28518D97A1}"/>
                </a:ext>
              </a:extLst>
            </p:cNvPr>
            <p:cNvGrpSpPr/>
            <p:nvPr/>
          </p:nvGrpSpPr>
          <p:grpSpPr>
            <a:xfrm>
              <a:off x="5427907" y="2712397"/>
              <a:ext cx="1187109" cy="1453960"/>
              <a:chOff x="5715037" y="2664565"/>
              <a:chExt cx="1187109" cy="1453960"/>
            </a:xfrm>
          </p:grpSpPr>
          <p:pic>
            <p:nvPicPr>
              <p:cNvPr id="18" name="Picture 17">
                <a:extLst>
                  <a:ext uri="{FF2B5EF4-FFF2-40B4-BE49-F238E27FC236}">
                    <a16:creationId xmlns:a16="http://schemas.microsoft.com/office/drawing/2014/main" id="{AD01CD48-8E61-1CED-8188-E04B7BAF81CF}"/>
                  </a:ext>
                </a:extLst>
              </p:cNvPr>
              <p:cNvPicPr>
                <a:picLocks noChangeAspect="1"/>
              </p:cNvPicPr>
              <p:nvPr/>
            </p:nvPicPr>
            <p:blipFill>
              <a:blip r:embed="rId9"/>
              <a:stretch>
                <a:fillRect/>
              </a:stretch>
            </p:blipFill>
            <p:spPr>
              <a:xfrm>
                <a:off x="5753816" y="2664565"/>
                <a:ext cx="1079479" cy="1079479"/>
              </a:xfrm>
              <a:prstGeom prst="rect">
                <a:avLst/>
              </a:prstGeom>
            </p:spPr>
          </p:pic>
          <p:sp>
            <p:nvSpPr>
              <p:cNvPr id="19" name="TextBox 18">
                <a:extLst>
                  <a:ext uri="{FF2B5EF4-FFF2-40B4-BE49-F238E27FC236}">
                    <a16:creationId xmlns:a16="http://schemas.microsoft.com/office/drawing/2014/main" id="{39BACD83-B32A-D48F-871B-D3392F6391A9}"/>
                  </a:ext>
                </a:extLst>
              </p:cNvPr>
              <p:cNvSpPr txBox="1"/>
              <p:nvPr/>
            </p:nvSpPr>
            <p:spPr>
              <a:xfrm>
                <a:off x="5715037" y="3687638"/>
                <a:ext cx="1187109" cy="430887"/>
              </a:xfrm>
              <a:prstGeom prst="rect">
                <a:avLst/>
              </a:prstGeom>
              <a:noFill/>
            </p:spPr>
            <p:txBody>
              <a:bodyPr wrap="square" rtlCol="0">
                <a:spAutoFit/>
              </a:bodyPr>
              <a:lstStyle/>
              <a:p>
                <a:pPr algn="ctr"/>
                <a:r>
                  <a:rPr lang="en-US" sz="1050" b="1"/>
                  <a:t>Transfer vs Expiry</a:t>
                </a:r>
              </a:p>
            </p:txBody>
          </p:sp>
        </p:grpSp>
        <p:grpSp>
          <p:nvGrpSpPr>
            <p:cNvPr id="32" name="Group 31">
              <a:extLst>
                <a:ext uri="{FF2B5EF4-FFF2-40B4-BE49-F238E27FC236}">
                  <a16:creationId xmlns:a16="http://schemas.microsoft.com/office/drawing/2014/main" id="{EB665C61-6498-4DAE-6C4B-CDAAD51D336D}"/>
                </a:ext>
              </a:extLst>
            </p:cNvPr>
            <p:cNvGrpSpPr/>
            <p:nvPr/>
          </p:nvGrpSpPr>
          <p:grpSpPr>
            <a:xfrm>
              <a:off x="10134036" y="2742733"/>
              <a:ext cx="1302286" cy="1330621"/>
              <a:chOff x="9955636" y="2731563"/>
              <a:chExt cx="1302286" cy="1330621"/>
            </a:xfrm>
          </p:grpSpPr>
          <p:pic>
            <p:nvPicPr>
              <p:cNvPr id="27" name="Picture 26">
                <a:extLst>
                  <a:ext uri="{FF2B5EF4-FFF2-40B4-BE49-F238E27FC236}">
                    <a16:creationId xmlns:a16="http://schemas.microsoft.com/office/drawing/2014/main" id="{603274F0-6422-AF1C-8ABA-DF908AFB007F}"/>
                  </a:ext>
                </a:extLst>
              </p:cNvPr>
              <p:cNvPicPr>
                <a:picLocks noChangeAspect="1"/>
              </p:cNvPicPr>
              <p:nvPr/>
            </p:nvPicPr>
            <p:blipFill>
              <a:blip r:embed="rId10"/>
              <a:stretch>
                <a:fillRect/>
              </a:stretch>
            </p:blipFill>
            <p:spPr>
              <a:xfrm>
                <a:off x="10191244" y="2731563"/>
                <a:ext cx="831071" cy="831071"/>
              </a:xfrm>
              <a:prstGeom prst="rect">
                <a:avLst/>
              </a:prstGeom>
            </p:spPr>
          </p:pic>
          <p:sp>
            <p:nvSpPr>
              <p:cNvPr id="28" name="TextBox 27">
                <a:extLst>
                  <a:ext uri="{FF2B5EF4-FFF2-40B4-BE49-F238E27FC236}">
                    <a16:creationId xmlns:a16="http://schemas.microsoft.com/office/drawing/2014/main" id="{5F0AA1AD-4D4A-ED8F-37BF-EFCB8AF753F1}"/>
                  </a:ext>
                </a:extLst>
              </p:cNvPr>
              <p:cNvSpPr txBox="1"/>
              <p:nvPr/>
            </p:nvSpPr>
            <p:spPr>
              <a:xfrm>
                <a:off x="9955636" y="3646686"/>
                <a:ext cx="1302286" cy="415498"/>
              </a:xfrm>
              <a:prstGeom prst="rect">
                <a:avLst/>
              </a:prstGeom>
              <a:noFill/>
            </p:spPr>
            <p:txBody>
              <a:bodyPr wrap="square" rtlCol="0">
                <a:spAutoFit/>
              </a:bodyPr>
              <a:lstStyle/>
              <a:p>
                <a:pPr algn="ctr"/>
                <a:r>
                  <a:rPr lang="en-US" sz="1050" b="1"/>
                  <a:t>Cost vs Waste Prevention</a:t>
                </a:r>
              </a:p>
            </p:txBody>
          </p:sp>
        </p:grpSp>
      </p:grpSp>
      <p:sp>
        <p:nvSpPr>
          <p:cNvPr id="47" name="Rectangle 46">
            <a:extLst>
              <a:ext uri="{FF2B5EF4-FFF2-40B4-BE49-F238E27FC236}">
                <a16:creationId xmlns:a16="http://schemas.microsoft.com/office/drawing/2014/main" id="{C1ED6B4B-4632-6022-3483-D14DFDFB69F4}"/>
              </a:ext>
            </a:extLst>
          </p:cNvPr>
          <p:cNvSpPr/>
          <p:nvPr/>
        </p:nvSpPr>
        <p:spPr>
          <a:xfrm>
            <a:off x="8961120" y="1032684"/>
            <a:ext cx="2976392" cy="1068448"/>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a:solidFill>
                  <a:schemeClr val="tx1"/>
                </a:solidFill>
              </a:rPr>
              <a:t>Agents</a:t>
            </a:r>
            <a:r>
              <a:rPr lang="en-US" sz="1400">
                <a:solidFill>
                  <a:schemeClr val="tx1"/>
                </a:solidFill>
              </a:rPr>
              <a:t> ingest the data, then </a:t>
            </a:r>
            <a:r>
              <a:rPr lang="en-US" sz="1400" b="1">
                <a:solidFill>
                  <a:schemeClr val="tx1"/>
                </a:solidFill>
              </a:rPr>
              <a:t>debate </a:t>
            </a:r>
            <a:r>
              <a:rPr lang="en-US" sz="1400">
                <a:solidFill>
                  <a:schemeClr val="tx1"/>
                </a:solidFill>
              </a:rPr>
              <a:t>real-world supply chain </a:t>
            </a:r>
            <a:r>
              <a:rPr lang="en-US" sz="1400" b="1">
                <a:solidFill>
                  <a:schemeClr val="tx1"/>
                </a:solidFill>
              </a:rPr>
              <a:t>trade-offs</a:t>
            </a:r>
            <a:r>
              <a:rPr lang="en-US" sz="1400">
                <a:solidFill>
                  <a:schemeClr val="tx1"/>
                </a:solidFill>
              </a:rPr>
              <a:t>. </a:t>
            </a:r>
            <a:r>
              <a:rPr lang="en-US" sz="1400" b="1">
                <a:solidFill>
                  <a:schemeClr val="tx1"/>
                </a:solidFill>
              </a:rPr>
              <a:t>Just like real teams do, but in seconds</a:t>
            </a:r>
          </a:p>
        </p:txBody>
      </p:sp>
      <p:sp>
        <p:nvSpPr>
          <p:cNvPr id="50" name="TextBox 49">
            <a:extLst>
              <a:ext uri="{FF2B5EF4-FFF2-40B4-BE49-F238E27FC236}">
                <a16:creationId xmlns:a16="http://schemas.microsoft.com/office/drawing/2014/main" id="{29B71555-EAAE-B286-8F9E-599285EA56D2}"/>
              </a:ext>
            </a:extLst>
          </p:cNvPr>
          <p:cNvSpPr txBox="1"/>
          <p:nvPr/>
        </p:nvSpPr>
        <p:spPr>
          <a:xfrm>
            <a:off x="5364628" y="2651096"/>
            <a:ext cx="4827043" cy="338554"/>
          </a:xfrm>
          <a:prstGeom prst="rect">
            <a:avLst/>
          </a:prstGeom>
          <a:noFill/>
        </p:spPr>
        <p:txBody>
          <a:bodyPr wrap="square" rtlCol="0">
            <a:spAutoFit/>
          </a:bodyPr>
          <a:lstStyle/>
          <a:p>
            <a:r>
              <a:rPr lang="en-US" sz="1600" b="1"/>
              <a:t>CONSTRAINTS WE ARE OPTIMIZING FOR</a:t>
            </a:r>
          </a:p>
        </p:txBody>
      </p:sp>
      <p:cxnSp>
        <p:nvCxnSpPr>
          <p:cNvPr id="53" name="Straight Arrow Connector 52">
            <a:extLst>
              <a:ext uri="{FF2B5EF4-FFF2-40B4-BE49-F238E27FC236}">
                <a16:creationId xmlns:a16="http://schemas.microsoft.com/office/drawing/2014/main" id="{6866517B-BA79-FD86-2B95-EF19971884EA}"/>
              </a:ext>
            </a:extLst>
          </p:cNvPr>
          <p:cNvCxnSpPr>
            <a:cxnSpLocks/>
            <a:stCxn id="1024" idx="3"/>
            <a:endCxn id="47" idx="1"/>
          </p:cNvCxnSpPr>
          <p:nvPr/>
        </p:nvCxnSpPr>
        <p:spPr>
          <a:xfrm>
            <a:off x="8691613" y="1565017"/>
            <a:ext cx="269507" cy="18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7B7BEADF-52DB-F375-F3BB-C0F2ECAD8CDD}"/>
              </a:ext>
            </a:extLst>
          </p:cNvPr>
          <p:cNvCxnSpPr>
            <a:cxnSpLocks/>
            <a:stCxn id="47" idx="2"/>
            <a:endCxn id="3" idx="0"/>
          </p:cNvCxnSpPr>
          <p:nvPr/>
        </p:nvCxnSpPr>
        <p:spPr>
          <a:xfrm rot="5400000">
            <a:off x="9333237" y="1371649"/>
            <a:ext cx="386597" cy="18455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Rectangle: Rounded Corners 55">
            <a:extLst>
              <a:ext uri="{FF2B5EF4-FFF2-40B4-BE49-F238E27FC236}">
                <a16:creationId xmlns:a16="http://schemas.microsoft.com/office/drawing/2014/main" id="{CA114159-E133-A5F9-03F5-07DFBC669B19}"/>
              </a:ext>
            </a:extLst>
          </p:cNvPr>
          <p:cNvSpPr/>
          <p:nvPr/>
        </p:nvSpPr>
        <p:spPr>
          <a:xfrm>
            <a:off x="5234076" y="5568195"/>
            <a:ext cx="6755793" cy="1104741"/>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ysClr val="windowText" lastClr="000000"/>
                </a:solidFill>
              </a:rPr>
              <a:t>PharmRebalance doesn't find the cheapest solution or the fastest one. It finds the one that works best across every constraint that matters in pharma</a:t>
            </a:r>
          </a:p>
        </p:txBody>
      </p:sp>
      <p:cxnSp>
        <p:nvCxnSpPr>
          <p:cNvPr id="58" name="Straight Arrow Connector 57">
            <a:extLst>
              <a:ext uri="{FF2B5EF4-FFF2-40B4-BE49-F238E27FC236}">
                <a16:creationId xmlns:a16="http://schemas.microsoft.com/office/drawing/2014/main" id="{E9E83458-CF15-6940-0745-AA687AF41D1C}"/>
              </a:ext>
            </a:extLst>
          </p:cNvPr>
          <p:cNvCxnSpPr>
            <a:cxnSpLocks/>
            <a:stCxn id="3" idx="2"/>
            <a:endCxn id="56" idx="0"/>
          </p:cNvCxnSpPr>
          <p:nvPr/>
        </p:nvCxnSpPr>
        <p:spPr>
          <a:xfrm>
            <a:off x="8603754" y="4880601"/>
            <a:ext cx="8219" cy="6875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39" name="TextBox 1038">
            <a:extLst>
              <a:ext uri="{FF2B5EF4-FFF2-40B4-BE49-F238E27FC236}">
                <a16:creationId xmlns:a16="http://schemas.microsoft.com/office/drawing/2014/main" id="{534ED568-4B0D-0DE2-D30A-40CB40028BB2}"/>
              </a:ext>
            </a:extLst>
          </p:cNvPr>
          <p:cNvSpPr txBox="1"/>
          <p:nvPr/>
        </p:nvSpPr>
        <p:spPr>
          <a:xfrm>
            <a:off x="5220858" y="5126945"/>
            <a:ext cx="6102848" cy="369332"/>
          </a:xfrm>
          <a:prstGeom prst="rect">
            <a:avLst/>
          </a:prstGeom>
          <a:noFill/>
        </p:spPr>
        <p:txBody>
          <a:bodyPr wrap="square">
            <a:spAutoFit/>
          </a:bodyPr>
          <a:lstStyle/>
          <a:p>
            <a:r>
              <a:rPr lang="en-US" sz="1800" b="1"/>
              <a:t>HOW DO WE RESOLVE IT ?</a:t>
            </a:r>
          </a:p>
        </p:txBody>
      </p:sp>
    </p:spTree>
    <p:extLst>
      <p:ext uri="{BB962C8B-B14F-4D97-AF65-F5344CB8AC3E}">
        <p14:creationId xmlns:p14="http://schemas.microsoft.com/office/powerpoint/2010/main" val="1748191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ABFD08-5BEE-7953-3FEE-39438EA79F35}"/>
              </a:ext>
            </a:extLst>
          </p:cNvPr>
          <p:cNvPicPr>
            <a:picLocks noChangeAspect="1"/>
          </p:cNvPicPr>
          <p:nvPr/>
        </p:nvPicPr>
        <p:blipFill>
          <a:blip r:embed="rId3"/>
          <a:stretch>
            <a:fillRect/>
          </a:stretch>
        </p:blipFill>
        <p:spPr>
          <a:xfrm>
            <a:off x="83618" y="30573"/>
            <a:ext cx="667287" cy="526600"/>
          </a:xfrm>
          <a:prstGeom prst="rect">
            <a:avLst/>
          </a:prstGeom>
        </p:spPr>
      </p:pic>
      <p:cxnSp>
        <p:nvCxnSpPr>
          <p:cNvPr id="7" name="Straight Connector 6">
            <a:extLst>
              <a:ext uri="{FF2B5EF4-FFF2-40B4-BE49-F238E27FC236}">
                <a16:creationId xmlns:a16="http://schemas.microsoft.com/office/drawing/2014/main" id="{7D2DACE5-F7D1-9B8F-76B0-AD3E3FE61096}"/>
              </a:ext>
            </a:extLst>
          </p:cNvPr>
          <p:cNvCxnSpPr>
            <a:cxnSpLocks/>
          </p:cNvCxnSpPr>
          <p:nvPr/>
        </p:nvCxnSpPr>
        <p:spPr>
          <a:xfrm>
            <a:off x="0" y="578236"/>
            <a:ext cx="12192000" cy="0"/>
          </a:xfrm>
          <a:prstGeom prst="line">
            <a:avLst/>
          </a:prstGeom>
          <a:ln w="6350"/>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EA02B603-91E5-EC8B-9B4C-59B52249EDF7}"/>
              </a:ext>
            </a:extLst>
          </p:cNvPr>
          <p:cNvCxnSpPr>
            <a:cxnSpLocks/>
          </p:cNvCxnSpPr>
          <p:nvPr/>
        </p:nvCxnSpPr>
        <p:spPr>
          <a:xfrm>
            <a:off x="816864"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BAC7F29B-8D1A-A7E7-D431-FE278E25B211}"/>
              </a:ext>
            </a:extLst>
          </p:cNvPr>
          <p:cNvPicPr>
            <a:picLocks noChangeAspect="1"/>
          </p:cNvPicPr>
          <p:nvPr/>
        </p:nvPicPr>
        <p:blipFill>
          <a:blip r:embed="rId4"/>
          <a:srcRect r="1510"/>
          <a:stretch>
            <a:fillRect/>
          </a:stretch>
        </p:blipFill>
        <p:spPr>
          <a:xfrm>
            <a:off x="8427504" y="178010"/>
            <a:ext cx="2950899" cy="259666"/>
          </a:xfrm>
          <a:prstGeom prst="rect">
            <a:avLst/>
          </a:prstGeom>
        </p:spPr>
      </p:pic>
      <p:sp>
        <p:nvSpPr>
          <p:cNvPr id="23" name="TextBox 22">
            <a:extLst>
              <a:ext uri="{FF2B5EF4-FFF2-40B4-BE49-F238E27FC236}">
                <a16:creationId xmlns:a16="http://schemas.microsoft.com/office/drawing/2014/main" id="{2C754C14-E7AD-927C-5AF9-1A9A604E7B0F}"/>
              </a:ext>
            </a:extLst>
          </p:cNvPr>
          <p:cNvSpPr txBox="1"/>
          <p:nvPr/>
        </p:nvSpPr>
        <p:spPr>
          <a:xfrm>
            <a:off x="11337036" y="53071"/>
            <a:ext cx="774613" cy="461665"/>
          </a:xfrm>
          <a:prstGeom prst="rect">
            <a:avLst/>
          </a:prstGeom>
          <a:noFill/>
        </p:spPr>
        <p:txBody>
          <a:bodyPr wrap="square" rtlCol="0">
            <a:spAutoFit/>
          </a:bodyPr>
          <a:lstStyle/>
          <a:p>
            <a:r>
              <a:rPr lang="en-US" sz="2400">
                <a:latin typeface="Calibri" panose="020F0502020204030204" pitchFamily="34" charset="0"/>
                <a:ea typeface="Calibri" panose="020F0502020204030204" pitchFamily="34" charset="0"/>
                <a:cs typeface="Calibri" panose="020F0502020204030204" pitchFamily="34" charset="0"/>
              </a:rPr>
              <a:t>now</a:t>
            </a:r>
          </a:p>
        </p:txBody>
      </p:sp>
      <p:sp>
        <p:nvSpPr>
          <p:cNvPr id="24" name="TextBox 23">
            <a:extLst>
              <a:ext uri="{FF2B5EF4-FFF2-40B4-BE49-F238E27FC236}">
                <a16:creationId xmlns:a16="http://schemas.microsoft.com/office/drawing/2014/main" id="{188DF3EA-7BB5-A68F-37E9-980C882700D5}"/>
              </a:ext>
            </a:extLst>
          </p:cNvPr>
          <p:cNvSpPr txBox="1"/>
          <p:nvPr/>
        </p:nvSpPr>
        <p:spPr>
          <a:xfrm>
            <a:off x="816864" y="0"/>
            <a:ext cx="7457175" cy="584775"/>
          </a:xfrm>
          <a:prstGeom prst="rect">
            <a:avLst/>
          </a:prstGeom>
          <a:solidFill>
            <a:schemeClr val="accent2"/>
          </a:solidFill>
        </p:spPr>
        <p:txBody>
          <a:bodyPr wrap="square" rtlCol="0">
            <a:spAutoFit/>
          </a:bodyPr>
          <a:lstStyle/>
          <a:p>
            <a:pPr algn="ctr"/>
            <a:r>
              <a:rPr lang="en-US" sz="3200">
                <a:solidFill>
                  <a:schemeClr val="bg1"/>
                </a:solidFill>
                <a:latin typeface="Times New Roman" panose="02020603050405020304" pitchFamily="18" charset="0"/>
                <a:cs typeface="Times New Roman" panose="02020603050405020304" pitchFamily="18" charset="0"/>
              </a:rPr>
              <a:t>Solution Overview</a:t>
            </a:r>
          </a:p>
        </p:txBody>
      </p:sp>
      <p:grpSp>
        <p:nvGrpSpPr>
          <p:cNvPr id="1175" name="Group 1174">
            <a:extLst>
              <a:ext uri="{FF2B5EF4-FFF2-40B4-BE49-F238E27FC236}">
                <a16:creationId xmlns:a16="http://schemas.microsoft.com/office/drawing/2014/main" id="{5B096007-FB71-9321-598C-B2D5F8866492}"/>
              </a:ext>
            </a:extLst>
          </p:cNvPr>
          <p:cNvGrpSpPr/>
          <p:nvPr/>
        </p:nvGrpSpPr>
        <p:grpSpPr>
          <a:xfrm>
            <a:off x="98994" y="860554"/>
            <a:ext cx="4158985" cy="5800521"/>
            <a:chOff x="7901540" y="838219"/>
            <a:chExt cx="4158985" cy="5800521"/>
          </a:xfrm>
        </p:grpSpPr>
        <p:sp>
          <p:nvSpPr>
            <p:cNvPr id="17" name="TextBox 16">
              <a:extLst>
                <a:ext uri="{FF2B5EF4-FFF2-40B4-BE49-F238E27FC236}">
                  <a16:creationId xmlns:a16="http://schemas.microsoft.com/office/drawing/2014/main" id="{55F5A186-2952-9669-1C32-3808F292A033}"/>
                </a:ext>
              </a:extLst>
            </p:cNvPr>
            <p:cNvSpPr txBox="1"/>
            <p:nvPr/>
          </p:nvSpPr>
          <p:spPr>
            <a:xfrm>
              <a:off x="7901540" y="838219"/>
              <a:ext cx="4140484" cy="369332"/>
            </a:xfrm>
            <a:prstGeom prst="rect">
              <a:avLst/>
            </a:prstGeom>
            <a:noFill/>
          </p:spPr>
          <p:txBody>
            <a:bodyPr wrap="square" rtlCol="0">
              <a:spAutoFit/>
            </a:bodyPr>
            <a:lstStyle/>
            <a:p>
              <a:pPr algn="ctr"/>
              <a:r>
                <a:rPr lang="en-US" b="1"/>
                <a:t> REAL TIME RISK SENSING</a:t>
              </a:r>
            </a:p>
          </p:txBody>
        </p:sp>
        <p:sp>
          <p:nvSpPr>
            <p:cNvPr id="22" name="Rectangle 21">
              <a:extLst>
                <a:ext uri="{FF2B5EF4-FFF2-40B4-BE49-F238E27FC236}">
                  <a16:creationId xmlns:a16="http://schemas.microsoft.com/office/drawing/2014/main" id="{1F34FC32-DCF1-9C44-623D-010410C2D0A4}"/>
                </a:ext>
              </a:extLst>
            </p:cNvPr>
            <p:cNvSpPr/>
            <p:nvPr/>
          </p:nvSpPr>
          <p:spPr>
            <a:xfrm>
              <a:off x="7945871" y="1419044"/>
              <a:ext cx="4114654" cy="57538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Hurricane threatening the Gulf Coast ? The Network Adapts to the situation instantly !</a:t>
              </a:r>
            </a:p>
          </p:txBody>
        </p:sp>
        <p:sp>
          <p:nvSpPr>
            <p:cNvPr id="26" name="Rectangle: Rounded Corners 25">
              <a:extLst>
                <a:ext uri="{FF2B5EF4-FFF2-40B4-BE49-F238E27FC236}">
                  <a16:creationId xmlns:a16="http://schemas.microsoft.com/office/drawing/2014/main" id="{E84A7E2E-0FFC-2717-E89D-B35CC6DD3E7C}"/>
                </a:ext>
              </a:extLst>
            </p:cNvPr>
            <p:cNvSpPr/>
            <p:nvPr/>
          </p:nvSpPr>
          <p:spPr>
            <a:xfrm>
              <a:off x="7945871" y="2261082"/>
              <a:ext cx="4114654" cy="2678985"/>
            </a:xfrm>
            <a:prstGeom prst="roundRect">
              <a:avLst>
                <a:gd name="adj" fmla="val 6356"/>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29" name="Straight Arrow Connector 28">
              <a:extLst>
                <a:ext uri="{FF2B5EF4-FFF2-40B4-BE49-F238E27FC236}">
                  <a16:creationId xmlns:a16="http://schemas.microsoft.com/office/drawing/2014/main" id="{BBD2593B-BBAB-1FBB-8D3A-0EBB6F10A404}"/>
                </a:ext>
              </a:extLst>
            </p:cNvPr>
            <p:cNvCxnSpPr>
              <a:cxnSpLocks/>
              <a:stCxn id="22" idx="2"/>
              <a:endCxn id="26" idx="0"/>
            </p:cNvCxnSpPr>
            <p:nvPr/>
          </p:nvCxnSpPr>
          <p:spPr>
            <a:xfrm>
              <a:off x="10003198" y="1994428"/>
              <a:ext cx="0" cy="266654"/>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24" name="Rectangle: Rounded Corners 1023">
              <a:extLst>
                <a:ext uri="{FF2B5EF4-FFF2-40B4-BE49-F238E27FC236}">
                  <a16:creationId xmlns:a16="http://schemas.microsoft.com/office/drawing/2014/main" id="{AEB654AD-A611-2603-9973-A5E1AD3390D6}"/>
                </a:ext>
              </a:extLst>
            </p:cNvPr>
            <p:cNvSpPr/>
            <p:nvPr/>
          </p:nvSpPr>
          <p:spPr>
            <a:xfrm>
              <a:off x="7965103" y="5125455"/>
              <a:ext cx="4070594" cy="1513285"/>
            </a:xfrm>
            <a:prstGeom prst="roundRect">
              <a:avLst>
                <a:gd name="adj" fmla="val 6499"/>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a:solidFill>
                    <a:schemeClr val="tx1"/>
                  </a:solidFill>
                </a:rPr>
                <a:t>Live events in.</a:t>
              </a:r>
            </a:p>
            <a:p>
              <a:pPr algn="just"/>
              <a:r>
                <a:rPr lang="en-US" sz="1600">
                  <a:solidFill>
                    <a:schemeClr val="tx1"/>
                  </a:solidFill>
                </a:rPr>
                <a:t>Affected locations, at-risk SKUs, patient impact, and recommended actions out  </a:t>
              </a:r>
            </a:p>
            <a:p>
              <a:pPr algn="just"/>
              <a:endParaRPr lang="en-US" sz="1600">
                <a:solidFill>
                  <a:schemeClr val="tx1"/>
                </a:solidFill>
              </a:endParaRPr>
            </a:p>
            <a:p>
              <a:pPr algn="just"/>
              <a:r>
                <a:rPr lang="en-US" sz="1600">
                  <a:solidFill>
                    <a:schemeClr val="tx1"/>
                  </a:solidFill>
                </a:rPr>
                <a:t>All before disruption even hits !</a:t>
              </a:r>
            </a:p>
          </p:txBody>
        </p:sp>
        <p:cxnSp>
          <p:nvCxnSpPr>
            <p:cNvPr id="1027" name="Straight Arrow Connector 1026">
              <a:extLst>
                <a:ext uri="{FF2B5EF4-FFF2-40B4-BE49-F238E27FC236}">
                  <a16:creationId xmlns:a16="http://schemas.microsoft.com/office/drawing/2014/main" id="{7DE029E6-EAD0-2DD8-F7D1-3BCA3A039F83}"/>
                </a:ext>
              </a:extLst>
            </p:cNvPr>
            <p:cNvCxnSpPr>
              <a:cxnSpLocks/>
              <a:stCxn id="26" idx="2"/>
              <a:endCxn id="1024" idx="0"/>
            </p:cNvCxnSpPr>
            <p:nvPr/>
          </p:nvCxnSpPr>
          <p:spPr>
            <a:xfrm flipH="1">
              <a:off x="10000400" y="4940067"/>
              <a:ext cx="2798" cy="185388"/>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114" name="Picture 1113">
              <a:extLst>
                <a:ext uri="{FF2B5EF4-FFF2-40B4-BE49-F238E27FC236}">
                  <a16:creationId xmlns:a16="http://schemas.microsoft.com/office/drawing/2014/main" id="{79DB8333-74A3-E35E-8F68-AE7DDC66845B}"/>
                </a:ext>
              </a:extLst>
            </p:cNvPr>
            <p:cNvPicPr>
              <a:picLocks noChangeAspect="1"/>
            </p:cNvPicPr>
            <p:nvPr/>
          </p:nvPicPr>
          <p:blipFill>
            <a:blip r:embed="rId5"/>
            <a:stretch>
              <a:fillRect/>
            </a:stretch>
          </p:blipFill>
          <p:spPr>
            <a:xfrm>
              <a:off x="8089365" y="2290040"/>
              <a:ext cx="3791495" cy="2608434"/>
            </a:xfrm>
            <a:prstGeom prst="rect">
              <a:avLst/>
            </a:prstGeom>
          </p:spPr>
        </p:pic>
      </p:grpSp>
      <p:grpSp>
        <p:nvGrpSpPr>
          <p:cNvPr id="1193" name="Group 1192">
            <a:extLst>
              <a:ext uri="{FF2B5EF4-FFF2-40B4-BE49-F238E27FC236}">
                <a16:creationId xmlns:a16="http://schemas.microsoft.com/office/drawing/2014/main" id="{E7921AB0-C84C-D4DA-75DC-73BF82C6F766}"/>
              </a:ext>
            </a:extLst>
          </p:cNvPr>
          <p:cNvGrpSpPr/>
          <p:nvPr/>
        </p:nvGrpSpPr>
        <p:grpSpPr>
          <a:xfrm>
            <a:off x="8143656" y="852710"/>
            <a:ext cx="3882342" cy="5787721"/>
            <a:chOff x="3746936" y="851019"/>
            <a:chExt cx="3882342" cy="5787721"/>
          </a:xfrm>
        </p:grpSpPr>
        <p:sp>
          <p:nvSpPr>
            <p:cNvPr id="16" name="TextBox 15">
              <a:extLst>
                <a:ext uri="{FF2B5EF4-FFF2-40B4-BE49-F238E27FC236}">
                  <a16:creationId xmlns:a16="http://schemas.microsoft.com/office/drawing/2014/main" id="{D7F6A06D-1369-AC28-C7DE-CC8AEF5496EC}"/>
                </a:ext>
              </a:extLst>
            </p:cNvPr>
            <p:cNvSpPr txBox="1"/>
            <p:nvPr/>
          </p:nvSpPr>
          <p:spPr>
            <a:xfrm>
              <a:off x="3836582" y="851019"/>
              <a:ext cx="3661285" cy="369332"/>
            </a:xfrm>
            <a:prstGeom prst="rect">
              <a:avLst/>
            </a:prstGeom>
            <a:noFill/>
          </p:spPr>
          <p:txBody>
            <a:bodyPr wrap="square" rtlCol="0">
              <a:spAutoFit/>
            </a:bodyPr>
            <a:lstStyle/>
            <a:p>
              <a:pPr algn="ctr"/>
              <a:r>
                <a:rPr lang="en-US" b="1"/>
                <a:t>PATIENT AND PLANET IMPACT</a:t>
              </a:r>
            </a:p>
          </p:txBody>
        </p:sp>
        <p:sp>
          <p:nvSpPr>
            <p:cNvPr id="1058" name="Rectangle 1057">
              <a:extLst>
                <a:ext uri="{FF2B5EF4-FFF2-40B4-BE49-F238E27FC236}">
                  <a16:creationId xmlns:a16="http://schemas.microsoft.com/office/drawing/2014/main" id="{C5AC9929-8ACC-1A9D-2AD7-3347A47888F6}"/>
                </a:ext>
              </a:extLst>
            </p:cNvPr>
            <p:cNvSpPr/>
            <p:nvPr/>
          </p:nvSpPr>
          <p:spPr>
            <a:xfrm>
              <a:off x="3836582" y="1471227"/>
              <a:ext cx="3729967" cy="90418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600"/>
            </a:p>
            <a:p>
              <a:pPr algn="just"/>
              <a:r>
                <a:rPr lang="en-US" sz="1600">
                  <a:solidFill>
                    <a:schemeClr val="tx1"/>
                  </a:solidFill>
                </a:rPr>
                <a:t>You don't just see what to do. You see who it helps and what it costs the planet.</a:t>
              </a:r>
            </a:p>
            <a:p>
              <a:pPr algn="just"/>
              <a:endParaRPr lang="en-US" sz="1600" i="1">
                <a:solidFill>
                  <a:schemeClr val="tx1"/>
                </a:solidFill>
              </a:endParaRPr>
            </a:p>
          </p:txBody>
        </p:sp>
        <p:grpSp>
          <p:nvGrpSpPr>
            <p:cNvPr id="1144" name="Group 1143">
              <a:extLst>
                <a:ext uri="{FF2B5EF4-FFF2-40B4-BE49-F238E27FC236}">
                  <a16:creationId xmlns:a16="http://schemas.microsoft.com/office/drawing/2014/main" id="{1ECFDCBC-84C1-92A3-819B-B20EA974CF7E}"/>
                </a:ext>
              </a:extLst>
            </p:cNvPr>
            <p:cNvGrpSpPr/>
            <p:nvPr/>
          </p:nvGrpSpPr>
          <p:grpSpPr>
            <a:xfrm>
              <a:off x="3778569" y="2816104"/>
              <a:ext cx="2177647" cy="1794235"/>
              <a:chOff x="3286402" y="2612728"/>
              <a:chExt cx="2567058" cy="1832818"/>
            </a:xfrm>
          </p:grpSpPr>
          <p:sp>
            <p:nvSpPr>
              <p:cNvPr id="1040" name="Rectangle: Rounded Corners 1039">
                <a:extLst>
                  <a:ext uri="{FF2B5EF4-FFF2-40B4-BE49-F238E27FC236}">
                    <a16:creationId xmlns:a16="http://schemas.microsoft.com/office/drawing/2014/main" id="{5E1A41AC-BA6F-81A5-FA03-80439C36BC5E}"/>
                  </a:ext>
                </a:extLst>
              </p:cNvPr>
              <p:cNvSpPr/>
              <p:nvPr/>
            </p:nvSpPr>
            <p:spPr>
              <a:xfrm>
                <a:off x="3286402" y="2612728"/>
                <a:ext cx="2567058" cy="1818848"/>
              </a:xfrm>
              <a:prstGeom prst="roundRect">
                <a:avLst>
                  <a:gd name="adj" fmla="val 717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1069" name="Picture 1068">
                <a:extLst>
                  <a:ext uri="{FF2B5EF4-FFF2-40B4-BE49-F238E27FC236}">
                    <a16:creationId xmlns:a16="http://schemas.microsoft.com/office/drawing/2014/main" id="{26833BFF-0734-B1EE-55D4-D947E715D039}"/>
                  </a:ext>
                </a:extLst>
              </p:cNvPr>
              <p:cNvPicPr>
                <a:picLocks noChangeAspect="1"/>
              </p:cNvPicPr>
              <p:nvPr/>
            </p:nvPicPr>
            <p:blipFill>
              <a:blip r:embed="rId6"/>
              <a:stretch>
                <a:fillRect/>
              </a:stretch>
            </p:blipFill>
            <p:spPr>
              <a:xfrm>
                <a:off x="3520123" y="3028335"/>
                <a:ext cx="420951" cy="420951"/>
              </a:xfrm>
              <a:prstGeom prst="rect">
                <a:avLst/>
              </a:prstGeom>
            </p:spPr>
          </p:pic>
          <p:sp>
            <p:nvSpPr>
              <p:cNvPr id="1078" name="TextBox 1077">
                <a:extLst>
                  <a:ext uri="{FF2B5EF4-FFF2-40B4-BE49-F238E27FC236}">
                    <a16:creationId xmlns:a16="http://schemas.microsoft.com/office/drawing/2014/main" id="{EF13F0EE-CECE-4BB7-74BE-99FED9624C13}"/>
                  </a:ext>
                </a:extLst>
              </p:cNvPr>
              <p:cNvSpPr txBox="1"/>
              <p:nvPr/>
            </p:nvSpPr>
            <p:spPr>
              <a:xfrm>
                <a:off x="3958860" y="3024275"/>
                <a:ext cx="1861418" cy="338554"/>
              </a:xfrm>
              <a:prstGeom prst="rect">
                <a:avLst/>
              </a:prstGeom>
              <a:noFill/>
            </p:spPr>
            <p:txBody>
              <a:bodyPr wrap="square" rtlCol="0">
                <a:spAutoFit/>
              </a:bodyPr>
              <a:lstStyle/>
              <a:p>
                <a:r>
                  <a:rPr lang="en-US" sz="1600" b="1"/>
                  <a:t>Patients Saved</a:t>
                </a:r>
              </a:p>
            </p:txBody>
          </p:sp>
          <p:sp>
            <p:nvSpPr>
              <p:cNvPr id="1079" name="TextBox 1078">
                <a:extLst>
                  <a:ext uri="{FF2B5EF4-FFF2-40B4-BE49-F238E27FC236}">
                    <a16:creationId xmlns:a16="http://schemas.microsoft.com/office/drawing/2014/main" id="{C4AB306D-DBC3-D52E-568E-E2A59EDDD0EB}"/>
                  </a:ext>
                </a:extLst>
              </p:cNvPr>
              <p:cNvSpPr txBox="1"/>
              <p:nvPr/>
            </p:nvSpPr>
            <p:spPr>
              <a:xfrm>
                <a:off x="3958860" y="3491390"/>
                <a:ext cx="1861418" cy="338554"/>
              </a:xfrm>
              <a:prstGeom prst="rect">
                <a:avLst/>
              </a:prstGeom>
              <a:noFill/>
            </p:spPr>
            <p:txBody>
              <a:bodyPr wrap="square" rtlCol="0">
                <a:spAutoFit/>
              </a:bodyPr>
              <a:lstStyle/>
              <a:p>
                <a:r>
                  <a:rPr lang="en-US" sz="1600" b="1"/>
                  <a:t>CO</a:t>
                </a:r>
                <a:r>
                  <a:rPr lang="en-US" sz="1600" b="1" baseline="-25000"/>
                  <a:t>2 </a:t>
                </a:r>
                <a:r>
                  <a:rPr lang="en-US" sz="1600" b="1"/>
                  <a:t> Footprint      </a:t>
                </a:r>
              </a:p>
            </p:txBody>
          </p:sp>
          <p:pic>
            <p:nvPicPr>
              <p:cNvPr id="1081" name="Picture 1080">
                <a:extLst>
                  <a:ext uri="{FF2B5EF4-FFF2-40B4-BE49-F238E27FC236}">
                    <a16:creationId xmlns:a16="http://schemas.microsoft.com/office/drawing/2014/main" id="{E2ABA8FD-6DFF-83C0-3CE0-F22BF5CABC43}"/>
                  </a:ext>
                </a:extLst>
              </p:cNvPr>
              <p:cNvPicPr>
                <a:picLocks noChangeAspect="1"/>
              </p:cNvPicPr>
              <p:nvPr/>
            </p:nvPicPr>
            <p:blipFill>
              <a:blip r:embed="rId7"/>
              <a:stretch>
                <a:fillRect/>
              </a:stretch>
            </p:blipFill>
            <p:spPr>
              <a:xfrm>
                <a:off x="3520123" y="3460238"/>
                <a:ext cx="438738" cy="438738"/>
              </a:xfrm>
              <a:prstGeom prst="rect">
                <a:avLst/>
              </a:prstGeom>
            </p:spPr>
          </p:pic>
          <p:sp>
            <p:nvSpPr>
              <p:cNvPr id="1082" name="TextBox 1081">
                <a:extLst>
                  <a:ext uri="{FF2B5EF4-FFF2-40B4-BE49-F238E27FC236}">
                    <a16:creationId xmlns:a16="http://schemas.microsoft.com/office/drawing/2014/main" id="{07D2330D-397E-B393-2482-1875046D2405}"/>
                  </a:ext>
                </a:extLst>
              </p:cNvPr>
              <p:cNvSpPr txBox="1"/>
              <p:nvPr/>
            </p:nvSpPr>
            <p:spPr>
              <a:xfrm>
                <a:off x="3983255" y="3829006"/>
                <a:ext cx="1684857" cy="616540"/>
              </a:xfrm>
              <a:prstGeom prst="rect">
                <a:avLst/>
              </a:prstGeom>
              <a:noFill/>
            </p:spPr>
            <p:txBody>
              <a:bodyPr wrap="square" rtlCol="0">
                <a:spAutoFit/>
              </a:bodyPr>
              <a:lstStyle/>
              <a:p>
                <a:r>
                  <a:rPr lang="en-US" sz="1600" b="1"/>
                  <a:t>Waste Eliminated</a:t>
                </a:r>
              </a:p>
            </p:txBody>
          </p:sp>
          <p:pic>
            <p:nvPicPr>
              <p:cNvPr id="1084" name="Picture 1083">
                <a:extLst>
                  <a:ext uri="{FF2B5EF4-FFF2-40B4-BE49-F238E27FC236}">
                    <a16:creationId xmlns:a16="http://schemas.microsoft.com/office/drawing/2014/main" id="{3E49C9DC-42AF-F418-E7D4-DE83FB8210FC}"/>
                  </a:ext>
                </a:extLst>
              </p:cNvPr>
              <p:cNvPicPr>
                <a:picLocks noChangeAspect="1"/>
              </p:cNvPicPr>
              <p:nvPr/>
            </p:nvPicPr>
            <p:blipFill>
              <a:blip r:embed="rId8"/>
              <a:stretch>
                <a:fillRect/>
              </a:stretch>
            </p:blipFill>
            <p:spPr>
              <a:xfrm>
                <a:off x="3574846" y="3968649"/>
                <a:ext cx="369332" cy="369332"/>
              </a:xfrm>
              <a:prstGeom prst="rect">
                <a:avLst/>
              </a:prstGeom>
            </p:spPr>
          </p:pic>
        </p:grpSp>
        <p:sp>
          <p:nvSpPr>
            <p:cNvPr id="1085" name="TextBox 1084">
              <a:extLst>
                <a:ext uri="{FF2B5EF4-FFF2-40B4-BE49-F238E27FC236}">
                  <a16:creationId xmlns:a16="http://schemas.microsoft.com/office/drawing/2014/main" id="{A444B226-4F83-A7C0-A2EC-DCC5C7BDC2A2}"/>
                </a:ext>
              </a:extLst>
            </p:cNvPr>
            <p:cNvSpPr txBox="1"/>
            <p:nvPr/>
          </p:nvSpPr>
          <p:spPr>
            <a:xfrm>
              <a:off x="3746936" y="2877874"/>
              <a:ext cx="2157553" cy="338554"/>
            </a:xfrm>
            <a:prstGeom prst="rect">
              <a:avLst/>
            </a:prstGeom>
            <a:noFill/>
          </p:spPr>
          <p:txBody>
            <a:bodyPr wrap="square" rtlCol="0">
              <a:spAutoFit/>
            </a:bodyPr>
            <a:lstStyle/>
            <a:p>
              <a:pPr algn="ctr"/>
              <a:r>
                <a:rPr lang="en-US" sz="1600" b="1"/>
                <a:t>IMPACT METRICS  </a:t>
              </a:r>
            </a:p>
          </p:txBody>
        </p:sp>
        <p:pic>
          <p:nvPicPr>
            <p:cNvPr id="1120" name="Picture 1119">
              <a:extLst>
                <a:ext uri="{FF2B5EF4-FFF2-40B4-BE49-F238E27FC236}">
                  <a16:creationId xmlns:a16="http://schemas.microsoft.com/office/drawing/2014/main" id="{46C74E4B-9A52-0195-565E-1218C555C2B7}"/>
                </a:ext>
              </a:extLst>
            </p:cNvPr>
            <p:cNvPicPr>
              <a:picLocks noChangeAspect="1"/>
            </p:cNvPicPr>
            <p:nvPr/>
          </p:nvPicPr>
          <p:blipFill>
            <a:blip r:embed="rId9"/>
            <a:stretch>
              <a:fillRect/>
            </a:stretch>
          </p:blipFill>
          <p:spPr>
            <a:xfrm>
              <a:off x="3778570" y="5132730"/>
              <a:ext cx="3850708" cy="1506010"/>
            </a:xfrm>
            <a:prstGeom prst="rect">
              <a:avLst/>
            </a:prstGeom>
          </p:spPr>
        </p:pic>
        <p:sp>
          <p:nvSpPr>
            <p:cNvPr id="1143" name="Rectangle: Rounded Corners 1142">
              <a:extLst>
                <a:ext uri="{FF2B5EF4-FFF2-40B4-BE49-F238E27FC236}">
                  <a16:creationId xmlns:a16="http://schemas.microsoft.com/office/drawing/2014/main" id="{39C6FBE0-0D10-097A-DDC5-0CEE08CFFD27}"/>
                </a:ext>
              </a:extLst>
            </p:cNvPr>
            <p:cNvSpPr/>
            <p:nvPr/>
          </p:nvSpPr>
          <p:spPr>
            <a:xfrm>
              <a:off x="6191215" y="2804530"/>
              <a:ext cx="1375336" cy="179423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This way , we translate operational reality into clinical reality !</a:t>
              </a:r>
            </a:p>
          </p:txBody>
        </p:sp>
        <p:cxnSp>
          <p:nvCxnSpPr>
            <p:cNvPr id="1147" name="Connector: Elbow 1146">
              <a:extLst>
                <a:ext uri="{FF2B5EF4-FFF2-40B4-BE49-F238E27FC236}">
                  <a16:creationId xmlns:a16="http://schemas.microsoft.com/office/drawing/2014/main" id="{3044978D-F08C-E6FC-3C67-F958F451FA4D}"/>
                </a:ext>
              </a:extLst>
            </p:cNvPr>
            <p:cNvCxnSpPr>
              <a:cxnSpLocks/>
              <a:stCxn id="1058" idx="2"/>
              <a:endCxn id="1040" idx="0"/>
            </p:cNvCxnSpPr>
            <p:nvPr/>
          </p:nvCxnSpPr>
          <p:spPr>
            <a:xfrm rot="5400000">
              <a:off x="5064135" y="2178673"/>
              <a:ext cx="440688" cy="834174"/>
            </a:xfrm>
            <a:prstGeom prst="bentConnector3">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49" name="Straight Arrow Connector 1148">
              <a:extLst>
                <a:ext uri="{FF2B5EF4-FFF2-40B4-BE49-F238E27FC236}">
                  <a16:creationId xmlns:a16="http://schemas.microsoft.com/office/drawing/2014/main" id="{B78CDCFE-7578-4D3E-CBDF-0D389E735B21}"/>
                </a:ext>
              </a:extLst>
            </p:cNvPr>
            <p:cNvCxnSpPr>
              <a:cxnSpLocks/>
              <a:stCxn id="1040" idx="3"/>
              <a:endCxn id="1143" idx="1"/>
            </p:cNvCxnSpPr>
            <p:nvPr/>
          </p:nvCxnSpPr>
          <p:spPr>
            <a:xfrm flipV="1">
              <a:off x="5956216" y="3701648"/>
              <a:ext cx="234999" cy="4736"/>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52" name="Connector: Elbow 1151">
              <a:extLst>
                <a:ext uri="{FF2B5EF4-FFF2-40B4-BE49-F238E27FC236}">
                  <a16:creationId xmlns:a16="http://schemas.microsoft.com/office/drawing/2014/main" id="{5E620D14-8A3E-BEEF-711C-98715868E90F}"/>
                </a:ext>
              </a:extLst>
            </p:cNvPr>
            <p:cNvCxnSpPr>
              <a:cxnSpLocks/>
              <a:stCxn id="1143" idx="2"/>
              <a:endCxn id="1120" idx="0"/>
            </p:cNvCxnSpPr>
            <p:nvPr/>
          </p:nvCxnSpPr>
          <p:spPr>
            <a:xfrm rot="5400000">
              <a:off x="6024422" y="4278269"/>
              <a:ext cx="533964" cy="1174959"/>
            </a:xfrm>
            <a:prstGeom prst="bentConnector3">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 name="Group 1">
            <a:extLst>
              <a:ext uri="{FF2B5EF4-FFF2-40B4-BE49-F238E27FC236}">
                <a16:creationId xmlns:a16="http://schemas.microsoft.com/office/drawing/2014/main" id="{8BA97ACB-F728-BA35-338D-283A15FFC01F}"/>
              </a:ext>
            </a:extLst>
          </p:cNvPr>
          <p:cNvGrpSpPr/>
          <p:nvPr/>
        </p:nvGrpSpPr>
        <p:grpSpPr>
          <a:xfrm>
            <a:off x="4205587" y="778620"/>
            <a:ext cx="3894638" cy="5834360"/>
            <a:chOff x="4530818" y="787419"/>
            <a:chExt cx="3894638" cy="5834360"/>
          </a:xfrm>
        </p:grpSpPr>
        <p:grpSp>
          <p:nvGrpSpPr>
            <p:cNvPr id="1196" name="Group 1195">
              <a:extLst>
                <a:ext uri="{FF2B5EF4-FFF2-40B4-BE49-F238E27FC236}">
                  <a16:creationId xmlns:a16="http://schemas.microsoft.com/office/drawing/2014/main" id="{E54DE9B0-069F-C410-D66B-CEE634705F76}"/>
                </a:ext>
              </a:extLst>
            </p:cNvPr>
            <p:cNvGrpSpPr/>
            <p:nvPr/>
          </p:nvGrpSpPr>
          <p:grpSpPr>
            <a:xfrm>
              <a:off x="4530818" y="787419"/>
              <a:ext cx="3744007" cy="5834360"/>
              <a:chOff x="0" y="800507"/>
              <a:chExt cx="3744007" cy="5834360"/>
            </a:xfrm>
          </p:grpSpPr>
          <p:sp>
            <p:nvSpPr>
              <p:cNvPr id="1045" name="TextBox 1044">
                <a:extLst>
                  <a:ext uri="{FF2B5EF4-FFF2-40B4-BE49-F238E27FC236}">
                    <a16:creationId xmlns:a16="http://schemas.microsoft.com/office/drawing/2014/main" id="{69C2C5DA-EAAD-A299-A5C2-92E8B33CF65E}"/>
                  </a:ext>
                </a:extLst>
              </p:cNvPr>
              <p:cNvSpPr txBox="1"/>
              <p:nvPr/>
            </p:nvSpPr>
            <p:spPr>
              <a:xfrm>
                <a:off x="0" y="800507"/>
                <a:ext cx="3661285" cy="646331"/>
              </a:xfrm>
              <a:prstGeom prst="rect">
                <a:avLst/>
              </a:prstGeom>
              <a:noFill/>
            </p:spPr>
            <p:txBody>
              <a:bodyPr wrap="square" rtlCol="0">
                <a:spAutoFit/>
              </a:bodyPr>
              <a:lstStyle/>
              <a:p>
                <a:pPr algn="ctr"/>
                <a:r>
                  <a:rPr lang="en-US" b="1"/>
                  <a:t>MULTI CONSTRAINT OPTIMIZATION</a:t>
                </a:r>
              </a:p>
            </p:txBody>
          </p:sp>
          <p:sp>
            <p:nvSpPr>
              <p:cNvPr id="1176" name="Rectangle 1175">
                <a:extLst>
                  <a:ext uri="{FF2B5EF4-FFF2-40B4-BE49-F238E27FC236}">
                    <a16:creationId xmlns:a16="http://schemas.microsoft.com/office/drawing/2014/main" id="{BB0C90D6-8920-39A4-0607-DD5AF1DFEE62}"/>
                  </a:ext>
                </a:extLst>
              </p:cNvPr>
              <p:cNvSpPr/>
              <p:nvPr/>
            </p:nvSpPr>
            <p:spPr>
              <a:xfrm>
                <a:off x="257536" y="1465844"/>
                <a:ext cx="3471229" cy="90418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600">
                  <a:solidFill>
                    <a:schemeClr val="tx1"/>
                  </a:solidFill>
                </a:endParaRPr>
              </a:p>
              <a:p>
                <a:pPr algn="just"/>
                <a:r>
                  <a:rPr lang="en-US" sz="1600">
                    <a:solidFill>
                      <a:schemeClr val="tx1"/>
                    </a:solidFill>
                  </a:rPr>
                  <a:t>How do we find the smartest solution? By making every agent accountable to every other agent</a:t>
                </a:r>
              </a:p>
              <a:p>
                <a:pPr algn="just"/>
                <a:endParaRPr lang="en-US" sz="1600" i="1">
                  <a:solidFill>
                    <a:schemeClr val="tx1"/>
                  </a:solidFill>
                </a:endParaRPr>
              </a:p>
            </p:txBody>
          </p:sp>
          <p:sp>
            <p:nvSpPr>
              <p:cNvPr id="1195" name="Rectangle: Rounded Corners 1194">
                <a:extLst>
                  <a:ext uri="{FF2B5EF4-FFF2-40B4-BE49-F238E27FC236}">
                    <a16:creationId xmlns:a16="http://schemas.microsoft.com/office/drawing/2014/main" id="{C59712F9-F842-6A7E-F903-D5B63E69D86B}"/>
                  </a:ext>
                </a:extLst>
              </p:cNvPr>
              <p:cNvSpPr/>
              <p:nvPr/>
            </p:nvSpPr>
            <p:spPr>
              <a:xfrm>
                <a:off x="257536" y="5302718"/>
                <a:ext cx="3486471" cy="1332149"/>
              </a:xfrm>
              <a:prstGeom prst="roundRect">
                <a:avLst>
                  <a:gd name="adj" fmla="val 1058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No agent works alone. Every recommendation is pressure-tested by all four perspectives before it reaches you</a:t>
                </a:r>
              </a:p>
            </p:txBody>
          </p:sp>
        </p:grpSp>
        <p:pic>
          <p:nvPicPr>
            <p:cNvPr id="1206" name="Picture 1205">
              <a:extLst>
                <a:ext uri="{FF2B5EF4-FFF2-40B4-BE49-F238E27FC236}">
                  <a16:creationId xmlns:a16="http://schemas.microsoft.com/office/drawing/2014/main" id="{A10BE097-BAA1-BEAA-64CF-D490F80BE061}"/>
                </a:ext>
              </a:extLst>
            </p:cNvPr>
            <p:cNvPicPr>
              <a:picLocks noChangeAspect="1"/>
            </p:cNvPicPr>
            <p:nvPr/>
          </p:nvPicPr>
          <p:blipFill>
            <a:blip r:embed="rId10"/>
            <a:srcRect r="4927" b="5109"/>
            <a:stretch>
              <a:fillRect/>
            </a:stretch>
          </p:blipFill>
          <p:spPr>
            <a:xfrm>
              <a:off x="4604926" y="2446123"/>
              <a:ext cx="3820530" cy="2835957"/>
            </a:xfrm>
            <a:prstGeom prst="rect">
              <a:avLst/>
            </a:prstGeom>
          </p:spPr>
        </p:pic>
        <p:cxnSp>
          <p:nvCxnSpPr>
            <p:cNvPr id="1208" name="Straight Arrow Connector 1207">
              <a:extLst>
                <a:ext uri="{FF2B5EF4-FFF2-40B4-BE49-F238E27FC236}">
                  <a16:creationId xmlns:a16="http://schemas.microsoft.com/office/drawing/2014/main" id="{1E0DB456-FE7A-BDA5-A3C0-308FF5074A51}"/>
                </a:ext>
              </a:extLst>
            </p:cNvPr>
            <p:cNvCxnSpPr>
              <a:cxnSpLocks/>
              <a:stCxn id="1176" idx="2"/>
            </p:cNvCxnSpPr>
            <p:nvPr/>
          </p:nvCxnSpPr>
          <p:spPr>
            <a:xfrm>
              <a:off x="6523969" y="2356945"/>
              <a:ext cx="0" cy="213218"/>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12" name="Straight Arrow Connector 1211">
              <a:extLst>
                <a:ext uri="{FF2B5EF4-FFF2-40B4-BE49-F238E27FC236}">
                  <a16:creationId xmlns:a16="http://schemas.microsoft.com/office/drawing/2014/main" id="{1A12B136-E857-C1DE-7F78-1A4A4A80A01F}"/>
                </a:ext>
              </a:extLst>
            </p:cNvPr>
            <p:cNvCxnSpPr>
              <a:cxnSpLocks/>
            </p:cNvCxnSpPr>
            <p:nvPr/>
          </p:nvCxnSpPr>
          <p:spPr>
            <a:xfrm>
              <a:off x="6486102" y="5099050"/>
              <a:ext cx="0" cy="200266"/>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70579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94574-7825-1A77-E63F-CFF56F081B9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397889-99AB-18FB-ACE7-373029E11380}"/>
              </a:ext>
            </a:extLst>
          </p:cNvPr>
          <p:cNvPicPr>
            <a:picLocks noChangeAspect="1"/>
          </p:cNvPicPr>
          <p:nvPr/>
        </p:nvPicPr>
        <p:blipFill>
          <a:blip r:embed="rId3"/>
          <a:stretch>
            <a:fillRect/>
          </a:stretch>
        </p:blipFill>
        <p:spPr>
          <a:xfrm>
            <a:off x="83618" y="30573"/>
            <a:ext cx="667287" cy="526600"/>
          </a:xfrm>
          <a:prstGeom prst="rect">
            <a:avLst/>
          </a:prstGeom>
        </p:spPr>
      </p:pic>
      <p:cxnSp>
        <p:nvCxnSpPr>
          <p:cNvPr id="7" name="Straight Connector 6">
            <a:extLst>
              <a:ext uri="{FF2B5EF4-FFF2-40B4-BE49-F238E27FC236}">
                <a16:creationId xmlns:a16="http://schemas.microsoft.com/office/drawing/2014/main" id="{1676524D-DC79-0EBA-583A-7A81840D446E}"/>
              </a:ext>
            </a:extLst>
          </p:cNvPr>
          <p:cNvCxnSpPr>
            <a:cxnSpLocks/>
          </p:cNvCxnSpPr>
          <p:nvPr/>
        </p:nvCxnSpPr>
        <p:spPr>
          <a:xfrm>
            <a:off x="0" y="578236"/>
            <a:ext cx="12192000" cy="0"/>
          </a:xfrm>
          <a:prstGeom prst="line">
            <a:avLst/>
          </a:prstGeom>
          <a:ln w="6350"/>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93A49C04-C7F5-D9B8-3085-A4A56BAA84E7}"/>
              </a:ext>
            </a:extLst>
          </p:cNvPr>
          <p:cNvCxnSpPr>
            <a:cxnSpLocks/>
          </p:cNvCxnSpPr>
          <p:nvPr/>
        </p:nvCxnSpPr>
        <p:spPr>
          <a:xfrm>
            <a:off x="816864"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15C69460-BE51-FE09-7EE6-B6652B412CC6}"/>
              </a:ext>
            </a:extLst>
          </p:cNvPr>
          <p:cNvCxnSpPr>
            <a:cxnSpLocks/>
          </p:cNvCxnSpPr>
          <p:nvPr/>
        </p:nvCxnSpPr>
        <p:spPr>
          <a:xfrm>
            <a:off x="8274050"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17263F6E-8AC0-E0BC-809D-24EF82C63F05}"/>
              </a:ext>
            </a:extLst>
          </p:cNvPr>
          <p:cNvPicPr>
            <a:picLocks noChangeAspect="1"/>
          </p:cNvPicPr>
          <p:nvPr/>
        </p:nvPicPr>
        <p:blipFill>
          <a:blip r:embed="rId4"/>
          <a:srcRect r="1510"/>
          <a:stretch>
            <a:fillRect/>
          </a:stretch>
        </p:blipFill>
        <p:spPr>
          <a:xfrm>
            <a:off x="8427504" y="178010"/>
            <a:ext cx="2950899" cy="259666"/>
          </a:xfrm>
          <a:prstGeom prst="rect">
            <a:avLst/>
          </a:prstGeom>
        </p:spPr>
      </p:pic>
      <p:sp>
        <p:nvSpPr>
          <p:cNvPr id="23" name="TextBox 22">
            <a:extLst>
              <a:ext uri="{FF2B5EF4-FFF2-40B4-BE49-F238E27FC236}">
                <a16:creationId xmlns:a16="http://schemas.microsoft.com/office/drawing/2014/main" id="{09BD61BB-8AD5-E338-C6C1-3EC33C6299F3}"/>
              </a:ext>
            </a:extLst>
          </p:cNvPr>
          <p:cNvSpPr txBox="1"/>
          <p:nvPr/>
        </p:nvSpPr>
        <p:spPr>
          <a:xfrm>
            <a:off x="11337036" y="53071"/>
            <a:ext cx="774613" cy="461665"/>
          </a:xfrm>
          <a:prstGeom prst="rect">
            <a:avLst/>
          </a:prstGeom>
          <a:noFill/>
        </p:spPr>
        <p:txBody>
          <a:bodyPr wrap="square" rtlCol="0">
            <a:spAutoFit/>
          </a:bodyPr>
          <a:lstStyle/>
          <a:p>
            <a:r>
              <a:rPr lang="en-US" sz="2400">
                <a:latin typeface="Calibri" panose="020F0502020204030204" pitchFamily="34" charset="0"/>
                <a:ea typeface="Calibri" panose="020F0502020204030204" pitchFamily="34" charset="0"/>
                <a:cs typeface="Calibri" panose="020F0502020204030204" pitchFamily="34" charset="0"/>
              </a:rPr>
              <a:t>now</a:t>
            </a:r>
          </a:p>
        </p:txBody>
      </p:sp>
      <p:sp>
        <p:nvSpPr>
          <p:cNvPr id="24" name="TextBox 23">
            <a:extLst>
              <a:ext uri="{FF2B5EF4-FFF2-40B4-BE49-F238E27FC236}">
                <a16:creationId xmlns:a16="http://schemas.microsoft.com/office/drawing/2014/main" id="{15C86EE0-E4D3-875D-3337-18D0A12E5C5F}"/>
              </a:ext>
            </a:extLst>
          </p:cNvPr>
          <p:cNvSpPr txBox="1"/>
          <p:nvPr/>
        </p:nvSpPr>
        <p:spPr>
          <a:xfrm>
            <a:off x="816864" y="0"/>
            <a:ext cx="7457175" cy="584775"/>
          </a:xfrm>
          <a:prstGeom prst="rect">
            <a:avLst/>
          </a:prstGeom>
          <a:solidFill>
            <a:schemeClr val="accent2"/>
          </a:solidFill>
        </p:spPr>
        <p:txBody>
          <a:bodyPr wrap="square" rtlCol="0">
            <a:spAutoFit/>
          </a:bodyPr>
          <a:lstStyle/>
          <a:p>
            <a:pPr algn="ctr"/>
            <a:r>
              <a:rPr lang="en-US" sz="3200">
                <a:solidFill>
                  <a:schemeClr val="bg1"/>
                </a:solidFill>
                <a:latin typeface="Times New Roman" panose="02020603050405020304" pitchFamily="18" charset="0"/>
                <a:cs typeface="Times New Roman" panose="02020603050405020304" pitchFamily="18" charset="0"/>
              </a:rPr>
              <a:t>Built on a Legacy of ZS’s SCM Innovation</a:t>
            </a:r>
          </a:p>
        </p:txBody>
      </p:sp>
      <p:sp>
        <p:nvSpPr>
          <p:cNvPr id="30" name="Rectangle: Rounded Corners 29">
            <a:extLst>
              <a:ext uri="{FF2B5EF4-FFF2-40B4-BE49-F238E27FC236}">
                <a16:creationId xmlns:a16="http://schemas.microsoft.com/office/drawing/2014/main" id="{BFAB7FBA-1902-E6FD-0B50-88E85799ADE2}"/>
              </a:ext>
            </a:extLst>
          </p:cNvPr>
          <p:cNvSpPr/>
          <p:nvPr/>
        </p:nvSpPr>
        <p:spPr>
          <a:xfrm>
            <a:off x="140862" y="863477"/>
            <a:ext cx="11782325" cy="457958"/>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PharmRebalance is a natural evolution of ZS's deep expertise in pharma supply chain intelligence</a:t>
            </a:r>
          </a:p>
        </p:txBody>
      </p:sp>
      <p:grpSp>
        <p:nvGrpSpPr>
          <p:cNvPr id="1199" name="Group 1198">
            <a:extLst>
              <a:ext uri="{FF2B5EF4-FFF2-40B4-BE49-F238E27FC236}">
                <a16:creationId xmlns:a16="http://schemas.microsoft.com/office/drawing/2014/main" id="{E3DE1528-808C-7ACC-A7F7-94F720F4FA7C}"/>
              </a:ext>
            </a:extLst>
          </p:cNvPr>
          <p:cNvGrpSpPr/>
          <p:nvPr/>
        </p:nvGrpSpPr>
        <p:grpSpPr>
          <a:xfrm>
            <a:off x="8396612" y="1803256"/>
            <a:ext cx="3514846" cy="4281328"/>
            <a:chOff x="8048264" y="1817226"/>
            <a:chExt cx="3514846" cy="4281328"/>
          </a:xfrm>
        </p:grpSpPr>
        <p:pic>
          <p:nvPicPr>
            <p:cNvPr id="28" name="Picture 27">
              <a:extLst>
                <a:ext uri="{FF2B5EF4-FFF2-40B4-BE49-F238E27FC236}">
                  <a16:creationId xmlns:a16="http://schemas.microsoft.com/office/drawing/2014/main" id="{04C23854-8B48-001C-75A8-F0EAA8AA2517}"/>
                </a:ext>
              </a:extLst>
            </p:cNvPr>
            <p:cNvPicPr>
              <a:picLocks noChangeAspect="1"/>
            </p:cNvPicPr>
            <p:nvPr/>
          </p:nvPicPr>
          <p:blipFill>
            <a:blip r:embed="rId5"/>
            <a:stretch>
              <a:fillRect/>
            </a:stretch>
          </p:blipFill>
          <p:spPr>
            <a:xfrm>
              <a:off x="8702263" y="4583545"/>
              <a:ext cx="2282112" cy="1384482"/>
            </a:xfrm>
            <a:prstGeom prst="rect">
              <a:avLst/>
            </a:prstGeom>
          </p:spPr>
        </p:pic>
        <p:pic>
          <p:nvPicPr>
            <p:cNvPr id="29" name="Picture 28">
              <a:extLst>
                <a:ext uri="{FF2B5EF4-FFF2-40B4-BE49-F238E27FC236}">
                  <a16:creationId xmlns:a16="http://schemas.microsoft.com/office/drawing/2014/main" id="{02D37734-F172-AA9B-3196-5B0BF517A3ED}"/>
                </a:ext>
              </a:extLst>
            </p:cNvPr>
            <p:cNvPicPr>
              <a:picLocks noChangeAspect="1"/>
            </p:cNvPicPr>
            <p:nvPr/>
          </p:nvPicPr>
          <p:blipFill>
            <a:blip r:embed="rId6"/>
            <a:stretch>
              <a:fillRect/>
            </a:stretch>
          </p:blipFill>
          <p:spPr>
            <a:xfrm>
              <a:off x="8266380" y="2197486"/>
              <a:ext cx="3099165" cy="2248973"/>
            </a:xfrm>
            <a:prstGeom prst="rect">
              <a:avLst/>
            </a:prstGeom>
          </p:spPr>
        </p:pic>
        <p:sp>
          <p:nvSpPr>
            <p:cNvPr id="1186" name="Rectangle: Rounded Corners 1185">
              <a:extLst>
                <a:ext uri="{FF2B5EF4-FFF2-40B4-BE49-F238E27FC236}">
                  <a16:creationId xmlns:a16="http://schemas.microsoft.com/office/drawing/2014/main" id="{17816BFF-6180-7EE5-E6C2-93D66ECDA154}"/>
                </a:ext>
              </a:extLst>
            </p:cNvPr>
            <p:cNvSpPr/>
            <p:nvPr/>
          </p:nvSpPr>
          <p:spPr>
            <a:xfrm>
              <a:off x="8048264" y="1817226"/>
              <a:ext cx="3514846" cy="4281328"/>
            </a:xfrm>
            <a:prstGeom prst="roundRect">
              <a:avLst>
                <a:gd name="adj" fmla="val 9364"/>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88" name="Arrow: Right 1187">
            <a:extLst>
              <a:ext uri="{FF2B5EF4-FFF2-40B4-BE49-F238E27FC236}">
                <a16:creationId xmlns:a16="http://schemas.microsoft.com/office/drawing/2014/main" id="{95D22912-B1F4-4B05-14D2-41A10BAA16DC}"/>
              </a:ext>
            </a:extLst>
          </p:cNvPr>
          <p:cNvSpPr/>
          <p:nvPr/>
        </p:nvSpPr>
        <p:spPr>
          <a:xfrm>
            <a:off x="7255652" y="3190816"/>
            <a:ext cx="1161511" cy="914400"/>
          </a:xfrm>
          <a:prstGeom prst="right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862A3A1-728F-DD5D-E007-27592D056360}"/>
              </a:ext>
            </a:extLst>
          </p:cNvPr>
          <p:cNvPicPr>
            <a:picLocks noChangeAspect="1"/>
          </p:cNvPicPr>
          <p:nvPr/>
        </p:nvPicPr>
        <p:blipFill>
          <a:blip r:embed="rId7"/>
          <a:stretch>
            <a:fillRect/>
          </a:stretch>
        </p:blipFill>
        <p:spPr>
          <a:xfrm>
            <a:off x="2554960" y="1779497"/>
            <a:ext cx="2165327" cy="1646869"/>
          </a:xfrm>
          <a:prstGeom prst="rect">
            <a:avLst/>
          </a:prstGeom>
        </p:spPr>
      </p:pic>
      <p:pic>
        <p:nvPicPr>
          <p:cNvPr id="8" name="Picture 7">
            <a:extLst>
              <a:ext uri="{FF2B5EF4-FFF2-40B4-BE49-F238E27FC236}">
                <a16:creationId xmlns:a16="http://schemas.microsoft.com/office/drawing/2014/main" id="{2A9B5EE1-8595-0F0D-3A62-A62926EE28D1}"/>
              </a:ext>
            </a:extLst>
          </p:cNvPr>
          <p:cNvPicPr>
            <a:picLocks noChangeAspect="1"/>
          </p:cNvPicPr>
          <p:nvPr/>
        </p:nvPicPr>
        <p:blipFill>
          <a:blip r:embed="rId8"/>
          <a:stretch>
            <a:fillRect/>
          </a:stretch>
        </p:blipFill>
        <p:spPr>
          <a:xfrm>
            <a:off x="4938308" y="1779497"/>
            <a:ext cx="2073129" cy="1601878"/>
          </a:xfrm>
          <a:prstGeom prst="rect">
            <a:avLst/>
          </a:prstGeom>
        </p:spPr>
      </p:pic>
      <p:pic>
        <p:nvPicPr>
          <p:cNvPr id="12" name="Picture 11">
            <a:extLst>
              <a:ext uri="{FF2B5EF4-FFF2-40B4-BE49-F238E27FC236}">
                <a16:creationId xmlns:a16="http://schemas.microsoft.com/office/drawing/2014/main" id="{3C1C710B-2153-6093-54AB-ED03BBE7BE7D}"/>
              </a:ext>
            </a:extLst>
          </p:cNvPr>
          <p:cNvPicPr>
            <a:picLocks noChangeAspect="1"/>
          </p:cNvPicPr>
          <p:nvPr/>
        </p:nvPicPr>
        <p:blipFill>
          <a:blip r:embed="rId9"/>
          <a:stretch>
            <a:fillRect/>
          </a:stretch>
        </p:blipFill>
        <p:spPr>
          <a:xfrm>
            <a:off x="452760" y="4082126"/>
            <a:ext cx="1977420" cy="1500241"/>
          </a:xfrm>
          <a:prstGeom prst="rect">
            <a:avLst/>
          </a:prstGeom>
        </p:spPr>
      </p:pic>
      <p:sp>
        <p:nvSpPr>
          <p:cNvPr id="1184" name="Rectangle: Rounded Corners 1183">
            <a:extLst>
              <a:ext uri="{FF2B5EF4-FFF2-40B4-BE49-F238E27FC236}">
                <a16:creationId xmlns:a16="http://schemas.microsoft.com/office/drawing/2014/main" id="{783F2035-28D3-C4B8-4E8F-84DAA32074C0}"/>
              </a:ext>
            </a:extLst>
          </p:cNvPr>
          <p:cNvSpPr/>
          <p:nvPr/>
        </p:nvSpPr>
        <p:spPr>
          <a:xfrm>
            <a:off x="140862" y="1516285"/>
            <a:ext cx="7128039" cy="4801759"/>
          </a:xfrm>
          <a:prstGeom prst="roundRect">
            <a:avLst>
              <a:gd name="adj" fmla="val 2905"/>
            </a:avLst>
          </a:prstGeom>
          <a:no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TextBox 1190">
            <a:extLst>
              <a:ext uri="{FF2B5EF4-FFF2-40B4-BE49-F238E27FC236}">
                <a16:creationId xmlns:a16="http://schemas.microsoft.com/office/drawing/2014/main" id="{D1C14392-5B00-8665-A439-4C21709046D2}"/>
              </a:ext>
            </a:extLst>
          </p:cNvPr>
          <p:cNvSpPr txBox="1"/>
          <p:nvPr/>
        </p:nvSpPr>
        <p:spPr>
          <a:xfrm>
            <a:off x="2646112" y="3515082"/>
            <a:ext cx="2233914" cy="276999"/>
          </a:xfrm>
          <a:prstGeom prst="rect">
            <a:avLst/>
          </a:prstGeom>
          <a:noFill/>
        </p:spPr>
        <p:txBody>
          <a:bodyPr wrap="square" rtlCol="0">
            <a:spAutoFit/>
          </a:bodyPr>
          <a:lstStyle/>
          <a:p>
            <a:pPr algn="ctr"/>
            <a:r>
              <a:rPr lang="en-US" sz="1200" b="1" i="1"/>
              <a:t>H. Caglar Ozdag</a:t>
            </a:r>
          </a:p>
        </p:txBody>
      </p:sp>
      <p:sp>
        <p:nvSpPr>
          <p:cNvPr id="1193" name="TextBox 1192">
            <a:extLst>
              <a:ext uri="{FF2B5EF4-FFF2-40B4-BE49-F238E27FC236}">
                <a16:creationId xmlns:a16="http://schemas.microsoft.com/office/drawing/2014/main" id="{77475C0D-47DA-5B98-B4A4-3B06B74CAEC6}"/>
              </a:ext>
            </a:extLst>
          </p:cNvPr>
          <p:cNvSpPr txBox="1"/>
          <p:nvPr/>
        </p:nvSpPr>
        <p:spPr>
          <a:xfrm>
            <a:off x="4832750" y="3494127"/>
            <a:ext cx="2233914" cy="276999"/>
          </a:xfrm>
          <a:prstGeom prst="rect">
            <a:avLst/>
          </a:prstGeom>
          <a:noFill/>
        </p:spPr>
        <p:txBody>
          <a:bodyPr wrap="square" rtlCol="0">
            <a:spAutoFit/>
          </a:bodyPr>
          <a:lstStyle/>
          <a:p>
            <a:pPr algn="ctr"/>
            <a:r>
              <a:rPr lang="en-US" sz="1200" b="1" i="1"/>
              <a:t>John DeSarbo</a:t>
            </a:r>
          </a:p>
        </p:txBody>
      </p:sp>
      <p:sp>
        <p:nvSpPr>
          <p:cNvPr id="1194" name="TextBox 1193">
            <a:extLst>
              <a:ext uri="{FF2B5EF4-FFF2-40B4-BE49-F238E27FC236}">
                <a16:creationId xmlns:a16="http://schemas.microsoft.com/office/drawing/2014/main" id="{5B754C55-4DB6-ECF6-17B5-159562371145}"/>
              </a:ext>
            </a:extLst>
          </p:cNvPr>
          <p:cNvSpPr txBox="1"/>
          <p:nvPr/>
        </p:nvSpPr>
        <p:spPr>
          <a:xfrm>
            <a:off x="5033463" y="5790517"/>
            <a:ext cx="2335097" cy="461665"/>
          </a:xfrm>
          <a:prstGeom prst="rect">
            <a:avLst/>
          </a:prstGeom>
          <a:noFill/>
        </p:spPr>
        <p:txBody>
          <a:bodyPr wrap="square" rtlCol="0">
            <a:spAutoFit/>
          </a:bodyPr>
          <a:lstStyle/>
          <a:p>
            <a:pPr algn="ctr"/>
            <a:r>
              <a:rPr lang="en-US" sz="1200" b="1" i="1"/>
              <a:t>H. Caglar Ozdag  and 	 John DeSarbo</a:t>
            </a:r>
          </a:p>
        </p:txBody>
      </p:sp>
      <p:pic>
        <p:nvPicPr>
          <p:cNvPr id="1203" name="Picture 1202">
            <a:extLst>
              <a:ext uri="{FF2B5EF4-FFF2-40B4-BE49-F238E27FC236}">
                <a16:creationId xmlns:a16="http://schemas.microsoft.com/office/drawing/2014/main" id="{70AC4225-0C25-33BF-6181-453477ED7D29}"/>
              </a:ext>
            </a:extLst>
          </p:cNvPr>
          <p:cNvPicPr>
            <a:picLocks noChangeAspect="1"/>
          </p:cNvPicPr>
          <p:nvPr/>
        </p:nvPicPr>
        <p:blipFill>
          <a:blip r:embed="rId10"/>
          <a:stretch>
            <a:fillRect/>
          </a:stretch>
        </p:blipFill>
        <p:spPr>
          <a:xfrm>
            <a:off x="310188" y="1837581"/>
            <a:ext cx="2100670" cy="1622983"/>
          </a:xfrm>
          <a:prstGeom prst="rect">
            <a:avLst/>
          </a:prstGeom>
        </p:spPr>
      </p:pic>
      <p:sp>
        <p:nvSpPr>
          <p:cNvPr id="1204" name="TextBox 1203">
            <a:extLst>
              <a:ext uri="{FF2B5EF4-FFF2-40B4-BE49-F238E27FC236}">
                <a16:creationId xmlns:a16="http://schemas.microsoft.com/office/drawing/2014/main" id="{352551B2-113B-1A4D-CD5A-553D40722BF5}"/>
              </a:ext>
            </a:extLst>
          </p:cNvPr>
          <p:cNvSpPr txBox="1"/>
          <p:nvPr/>
        </p:nvSpPr>
        <p:spPr>
          <a:xfrm>
            <a:off x="329510" y="3463934"/>
            <a:ext cx="2100670" cy="461665"/>
          </a:xfrm>
          <a:prstGeom prst="rect">
            <a:avLst/>
          </a:prstGeom>
          <a:noFill/>
        </p:spPr>
        <p:txBody>
          <a:bodyPr wrap="square" rtlCol="0">
            <a:spAutoFit/>
          </a:bodyPr>
          <a:lstStyle/>
          <a:p>
            <a:pPr algn="ctr"/>
            <a:r>
              <a:rPr lang="en-US" sz="1200" b="1" i="1"/>
              <a:t>Kartik Sourirajan,</a:t>
            </a:r>
          </a:p>
          <a:p>
            <a:pPr algn="ctr"/>
            <a:r>
              <a:rPr lang="en-US" sz="1200" b="1" i="1"/>
              <a:t> Arun Shastri, Jessica Jarvis</a:t>
            </a:r>
          </a:p>
        </p:txBody>
      </p:sp>
      <p:sp>
        <p:nvSpPr>
          <p:cNvPr id="1206" name="TextBox 1205">
            <a:extLst>
              <a:ext uri="{FF2B5EF4-FFF2-40B4-BE49-F238E27FC236}">
                <a16:creationId xmlns:a16="http://schemas.microsoft.com/office/drawing/2014/main" id="{8B0BCCFF-A469-A32F-EB64-E87F096FA61F}"/>
              </a:ext>
            </a:extLst>
          </p:cNvPr>
          <p:cNvSpPr txBox="1"/>
          <p:nvPr/>
        </p:nvSpPr>
        <p:spPr>
          <a:xfrm>
            <a:off x="140862" y="5818099"/>
            <a:ext cx="2871357" cy="461665"/>
          </a:xfrm>
          <a:prstGeom prst="rect">
            <a:avLst/>
          </a:prstGeom>
          <a:noFill/>
        </p:spPr>
        <p:txBody>
          <a:bodyPr wrap="square" rtlCol="0">
            <a:spAutoFit/>
          </a:bodyPr>
          <a:lstStyle/>
          <a:p>
            <a:pPr algn="ctr"/>
            <a:r>
              <a:rPr lang="en-US" sz="1200" b="1" i="1"/>
              <a:t>Regi T George, Prashant Khare </a:t>
            </a:r>
          </a:p>
          <a:p>
            <a:pPr algn="ctr"/>
            <a:r>
              <a:rPr lang="en-US" sz="1200" b="1" i="1"/>
              <a:t>and Raghuram Mutya</a:t>
            </a:r>
          </a:p>
        </p:txBody>
      </p:sp>
      <p:pic>
        <p:nvPicPr>
          <p:cNvPr id="1208" name="Picture 1207">
            <a:extLst>
              <a:ext uri="{FF2B5EF4-FFF2-40B4-BE49-F238E27FC236}">
                <a16:creationId xmlns:a16="http://schemas.microsoft.com/office/drawing/2014/main" id="{6A09F9A1-D0A5-D328-2071-B8EA117D4345}"/>
              </a:ext>
            </a:extLst>
          </p:cNvPr>
          <p:cNvPicPr>
            <a:picLocks noChangeAspect="1"/>
          </p:cNvPicPr>
          <p:nvPr/>
        </p:nvPicPr>
        <p:blipFill>
          <a:blip r:embed="rId11"/>
          <a:stretch>
            <a:fillRect/>
          </a:stretch>
        </p:blipFill>
        <p:spPr>
          <a:xfrm>
            <a:off x="2646112" y="4070783"/>
            <a:ext cx="2032534" cy="1526269"/>
          </a:xfrm>
          <a:prstGeom prst="rect">
            <a:avLst/>
          </a:prstGeom>
        </p:spPr>
      </p:pic>
      <p:pic>
        <p:nvPicPr>
          <p:cNvPr id="1210" name="Picture 1209">
            <a:extLst>
              <a:ext uri="{FF2B5EF4-FFF2-40B4-BE49-F238E27FC236}">
                <a16:creationId xmlns:a16="http://schemas.microsoft.com/office/drawing/2014/main" id="{C88B2792-57B5-BE63-5F64-E409B207F7D7}"/>
              </a:ext>
            </a:extLst>
          </p:cNvPr>
          <p:cNvPicPr>
            <a:picLocks noChangeAspect="1"/>
          </p:cNvPicPr>
          <p:nvPr/>
        </p:nvPicPr>
        <p:blipFill>
          <a:blip r:embed="rId12"/>
          <a:stretch>
            <a:fillRect/>
          </a:stretch>
        </p:blipFill>
        <p:spPr>
          <a:xfrm>
            <a:off x="5088795" y="4026600"/>
            <a:ext cx="1992825" cy="1699070"/>
          </a:xfrm>
          <a:prstGeom prst="rect">
            <a:avLst/>
          </a:prstGeom>
        </p:spPr>
      </p:pic>
      <p:sp>
        <p:nvSpPr>
          <p:cNvPr id="1211" name="TextBox 1210">
            <a:extLst>
              <a:ext uri="{FF2B5EF4-FFF2-40B4-BE49-F238E27FC236}">
                <a16:creationId xmlns:a16="http://schemas.microsoft.com/office/drawing/2014/main" id="{E162D2FC-3592-247B-BA53-E07A2FEFA00B}"/>
              </a:ext>
            </a:extLst>
          </p:cNvPr>
          <p:cNvSpPr txBox="1"/>
          <p:nvPr/>
        </p:nvSpPr>
        <p:spPr>
          <a:xfrm>
            <a:off x="2201944" y="5853352"/>
            <a:ext cx="2871357" cy="276999"/>
          </a:xfrm>
          <a:prstGeom prst="rect">
            <a:avLst/>
          </a:prstGeom>
          <a:noFill/>
        </p:spPr>
        <p:txBody>
          <a:bodyPr wrap="square" rtlCol="0">
            <a:spAutoFit/>
          </a:bodyPr>
          <a:lstStyle/>
          <a:p>
            <a:pPr algn="ctr"/>
            <a:r>
              <a:rPr lang="en-US" sz="1200" b="1" i="1"/>
              <a:t>H. Caglar Ozdag </a:t>
            </a:r>
          </a:p>
        </p:txBody>
      </p:sp>
    </p:spTree>
    <p:extLst>
      <p:ext uri="{BB962C8B-B14F-4D97-AF65-F5344CB8AC3E}">
        <p14:creationId xmlns:p14="http://schemas.microsoft.com/office/powerpoint/2010/main" val="289523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A1546-59C2-4511-4992-1A7E1320B3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5F58E1A-C29A-3694-A987-BD9F3F290CD7}"/>
              </a:ext>
            </a:extLst>
          </p:cNvPr>
          <p:cNvPicPr>
            <a:picLocks noChangeAspect="1"/>
          </p:cNvPicPr>
          <p:nvPr/>
        </p:nvPicPr>
        <p:blipFill>
          <a:blip r:embed="rId3"/>
          <a:stretch>
            <a:fillRect/>
          </a:stretch>
        </p:blipFill>
        <p:spPr>
          <a:xfrm>
            <a:off x="83618" y="30573"/>
            <a:ext cx="667287" cy="526600"/>
          </a:xfrm>
          <a:prstGeom prst="rect">
            <a:avLst/>
          </a:prstGeom>
        </p:spPr>
      </p:pic>
      <p:cxnSp>
        <p:nvCxnSpPr>
          <p:cNvPr id="7" name="Straight Connector 6">
            <a:extLst>
              <a:ext uri="{FF2B5EF4-FFF2-40B4-BE49-F238E27FC236}">
                <a16:creationId xmlns:a16="http://schemas.microsoft.com/office/drawing/2014/main" id="{2B134D47-F8BB-0AFA-1008-ACECCD475FD4}"/>
              </a:ext>
            </a:extLst>
          </p:cNvPr>
          <p:cNvCxnSpPr>
            <a:cxnSpLocks/>
          </p:cNvCxnSpPr>
          <p:nvPr/>
        </p:nvCxnSpPr>
        <p:spPr>
          <a:xfrm>
            <a:off x="0" y="578236"/>
            <a:ext cx="12192000" cy="0"/>
          </a:xfrm>
          <a:prstGeom prst="line">
            <a:avLst/>
          </a:prstGeom>
          <a:ln w="6350"/>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C4E19002-9794-1258-3D93-C33BCBAC8A30}"/>
              </a:ext>
            </a:extLst>
          </p:cNvPr>
          <p:cNvCxnSpPr>
            <a:cxnSpLocks/>
          </p:cNvCxnSpPr>
          <p:nvPr/>
        </p:nvCxnSpPr>
        <p:spPr>
          <a:xfrm>
            <a:off x="816864"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AF99340-CE7E-E65B-AAB9-15C2EBF25D5C}"/>
              </a:ext>
            </a:extLst>
          </p:cNvPr>
          <p:cNvCxnSpPr>
            <a:cxnSpLocks/>
          </p:cNvCxnSpPr>
          <p:nvPr/>
        </p:nvCxnSpPr>
        <p:spPr>
          <a:xfrm>
            <a:off x="8274050"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AB9C37D4-55B3-C50B-A075-EAE686F52836}"/>
              </a:ext>
            </a:extLst>
          </p:cNvPr>
          <p:cNvPicPr>
            <a:picLocks noChangeAspect="1"/>
          </p:cNvPicPr>
          <p:nvPr/>
        </p:nvPicPr>
        <p:blipFill>
          <a:blip r:embed="rId4"/>
          <a:srcRect r="1510"/>
          <a:stretch>
            <a:fillRect/>
          </a:stretch>
        </p:blipFill>
        <p:spPr>
          <a:xfrm>
            <a:off x="8427504" y="178010"/>
            <a:ext cx="2950899" cy="259666"/>
          </a:xfrm>
          <a:prstGeom prst="rect">
            <a:avLst/>
          </a:prstGeom>
        </p:spPr>
      </p:pic>
      <p:sp>
        <p:nvSpPr>
          <p:cNvPr id="23" name="TextBox 22">
            <a:extLst>
              <a:ext uri="{FF2B5EF4-FFF2-40B4-BE49-F238E27FC236}">
                <a16:creationId xmlns:a16="http://schemas.microsoft.com/office/drawing/2014/main" id="{0E3330DE-1BDB-B3CB-22C3-4FCC826447BD}"/>
              </a:ext>
            </a:extLst>
          </p:cNvPr>
          <p:cNvSpPr txBox="1"/>
          <p:nvPr/>
        </p:nvSpPr>
        <p:spPr>
          <a:xfrm>
            <a:off x="11337036" y="53071"/>
            <a:ext cx="774613" cy="461665"/>
          </a:xfrm>
          <a:prstGeom prst="rect">
            <a:avLst/>
          </a:prstGeom>
          <a:noFill/>
        </p:spPr>
        <p:txBody>
          <a:bodyPr wrap="square" rtlCol="0">
            <a:spAutoFit/>
          </a:bodyPr>
          <a:lstStyle/>
          <a:p>
            <a:r>
              <a:rPr lang="en-US" sz="2400">
                <a:latin typeface="Calibri" panose="020F0502020204030204" pitchFamily="34" charset="0"/>
                <a:ea typeface="Calibri" panose="020F0502020204030204" pitchFamily="34" charset="0"/>
                <a:cs typeface="Calibri" panose="020F0502020204030204" pitchFamily="34" charset="0"/>
              </a:rPr>
              <a:t>now</a:t>
            </a:r>
          </a:p>
        </p:txBody>
      </p:sp>
      <p:sp>
        <p:nvSpPr>
          <p:cNvPr id="24" name="TextBox 23">
            <a:extLst>
              <a:ext uri="{FF2B5EF4-FFF2-40B4-BE49-F238E27FC236}">
                <a16:creationId xmlns:a16="http://schemas.microsoft.com/office/drawing/2014/main" id="{B063573D-ED61-3A1F-7490-D04B8AB86087}"/>
              </a:ext>
            </a:extLst>
          </p:cNvPr>
          <p:cNvSpPr txBox="1"/>
          <p:nvPr/>
        </p:nvSpPr>
        <p:spPr>
          <a:xfrm>
            <a:off x="816864" y="0"/>
            <a:ext cx="7457175" cy="584775"/>
          </a:xfrm>
          <a:prstGeom prst="rect">
            <a:avLst/>
          </a:prstGeom>
          <a:solidFill>
            <a:schemeClr val="accent2"/>
          </a:solidFill>
        </p:spPr>
        <p:txBody>
          <a:bodyPr wrap="square" rtlCol="0">
            <a:spAutoFit/>
          </a:bodyPr>
          <a:lstStyle/>
          <a:p>
            <a:pPr algn="ctr"/>
            <a:r>
              <a:rPr lang="en-US" sz="3200">
                <a:solidFill>
                  <a:schemeClr val="bg1"/>
                </a:solidFill>
                <a:latin typeface="Times New Roman" panose="02020603050405020304" pitchFamily="18" charset="0"/>
                <a:cs typeface="Times New Roman" panose="02020603050405020304" pitchFamily="18" charset="0"/>
              </a:rPr>
              <a:t>Architecture Diagram</a:t>
            </a:r>
          </a:p>
        </p:txBody>
      </p:sp>
    </p:spTree>
    <p:extLst>
      <p:ext uri="{BB962C8B-B14F-4D97-AF65-F5344CB8AC3E}">
        <p14:creationId xmlns:p14="http://schemas.microsoft.com/office/powerpoint/2010/main" val="98853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EB8EE-C0C3-1855-8224-1384D9A1A3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D2C5570-BED4-FAB1-BBAD-DE0184E6C742}"/>
              </a:ext>
            </a:extLst>
          </p:cNvPr>
          <p:cNvPicPr>
            <a:picLocks noChangeAspect="1"/>
          </p:cNvPicPr>
          <p:nvPr/>
        </p:nvPicPr>
        <p:blipFill>
          <a:blip r:embed="rId3"/>
          <a:stretch>
            <a:fillRect/>
          </a:stretch>
        </p:blipFill>
        <p:spPr>
          <a:xfrm>
            <a:off x="83618" y="30573"/>
            <a:ext cx="667287" cy="526600"/>
          </a:xfrm>
          <a:prstGeom prst="rect">
            <a:avLst/>
          </a:prstGeom>
        </p:spPr>
      </p:pic>
      <p:cxnSp>
        <p:nvCxnSpPr>
          <p:cNvPr id="7" name="Straight Connector 6">
            <a:extLst>
              <a:ext uri="{FF2B5EF4-FFF2-40B4-BE49-F238E27FC236}">
                <a16:creationId xmlns:a16="http://schemas.microsoft.com/office/drawing/2014/main" id="{F910A503-2AF2-0179-1FF8-5D5976543FE2}"/>
              </a:ext>
            </a:extLst>
          </p:cNvPr>
          <p:cNvCxnSpPr>
            <a:cxnSpLocks/>
          </p:cNvCxnSpPr>
          <p:nvPr/>
        </p:nvCxnSpPr>
        <p:spPr>
          <a:xfrm>
            <a:off x="0" y="578236"/>
            <a:ext cx="12192000" cy="0"/>
          </a:xfrm>
          <a:prstGeom prst="line">
            <a:avLst/>
          </a:prstGeom>
          <a:ln w="6350"/>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B0C47F14-2130-975F-05EC-20EF82E18B3F}"/>
              </a:ext>
            </a:extLst>
          </p:cNvPr>
          <p:cNvCxnSpPr>
            <a:cxnSpLocks/>
          </p:cNvCxnSpPr>
          <p:nvPr/>
        </p:nvCxnSpPr>
        <p:spPr>
          <a:xfrm>
            <a:off x="816864"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16985A04-5E4D-FDEF-8388-E23C432DDCA8}"/>
              </a:ext>
            </a:extLst>
          </p:cNvPr>
          <p:cNvCxnSpPr>
            <a:cxnSpLocks/>
          </p:cNvCxnSpPr>
          <p:nvPr/>
        </p:nvCxnSpPr>
        <p:spPr>
          <a:xfrm>
            <a:off x="8274050"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990833F0-28E5-0631-7380-12A9C9AF32ED}"/>
              </a:ext>
            </a:extLst>
          </p:cNvPr>
          <p:cNvPicPr>
            <a:picLocks noChangeAspect="1"/>
          </p:cNvPicPr>
          <p:nvPr/>
        </p:nvPicPr>
        <p:blipFill>
          <a:blip r:embed="rId4"/>
          <a:srcRect r="1510"/>
          <a:stretch>
            <a:fillRect/>
          </a:stretch>
        </p:blipFill>
        <p:spPr>
          <a:xfrm>
            <a:off x="8427504" y="178010"/>
            <a:ext cx="2950899" cy="259666"/>
          </a:xfrm>
          <a:prstGeom prst="rect">
            <a:avLst/>
          </a:prstGeom>
        </p:spPr>
      </p:pic>
      <p:sp>
        <p:nvSpPr>
          <p:cNvPr id="23" name="TextBox 22">
            <a:extLst>
              <a:ext uri="{FF2B5EF4-FFF2-40B4-BE49-F238E27FC236}">
                <a16:creationId xmlns:a16="http://schemas.microsoft.com/office/drawing/2014/main" id="{F9E6E6A9-AE54-C96E-BE96-DC4550CBE9FE}"/>
              </a:ext>
            </a:extLst>
          </p:cNvPr>
          <p:cNvSpPr txBox="1"/>
          <p:nvPr/>
        </p:nvSpPr>
        <p:spPr>
          <a:xfrm>
            <a:off x="11337036" y="53071"/>
            <a:ext cx="774613" cy="461665"/>
          </a:xfrm>
          <a:prstGeom prst="rect">
            <a:avLst/>
          </a:prstGeom>
          <a:noFill/>
        </p:spPr>
        <p:txBody>
          <a:bodyPr wrap="square" rtlCol="0">
            <a:spAutoFit/>
          </a:bodyPr>
          <a:lstStyle/>
          <a:p>
            <a:r>
              <a:rPr lang="en-US" sz="2400">
                <a:latin typeface="Calibri" panose="020F0502020204030204" pitchFamily="34" charset="0"/>
                <a:ea typeface="Calibri" panose="020F0502020204030204" pitchFamily="34" charset="0"/>
                <a:cs typeface="Calibri" panose="020F0502020204030204" pitchFamily="34" charset="0"/>
              </a:rPr>
              <a:t>now</a:t>
            </a:r>
          </a:p>
        </p:txBody>
      </p:sp>
      <p:sp>
        <p:nvSpPr>
          <p:cNvPr id="24" name="TextBox 23">
            <a:extLst>
              <a:ext uri="{FF2B5EF4-FFF2-40B4-BE49-F238E27FC236}">
                <a16:creationId xmlns:a16="http://schemas.microsoft.com/office/drawing/2014/main" id="{0C8F4A6F-C017-1A3B-5E94-FBFB64BD6DEC}"/>
              </a:ext>
            </a:extLst>
          </p:cNvPr>
          <p:cNvSpPr txBox="1"/>
          <p:nvPr/>
        </p:nvSpPr>
        <p:spPr>
          <a:xfrm>
            <a:off x="816864" y="0"/>
            <a:ext cx="7457175" cy="584775"/>
          </a:xfrm>
          <a:prstGeom prst="rect">
            <a:avLst/>
          </a:prstGeom>
          <a:solidFill>
            <a:schemeClr val="accent2"/>
          </a:solidFill>
        </p:spPr>
        <p:txBody>
          <a:bodyPr wrap="square" rtlCol="0">
            <a:spAutoFit/>
          </a:bodyPr>
          <a:lstStyle/>
          <a:p>
            <a:pPr algn="ctr"/>
            <a:r>
              <a:rPr lang="en-US" sz="3200">
                <a:solidFill>
                  <a:schemeClr val="bg1"/>
                </a:solidFill>
                <a:latin typeface="Times New Roman" panose="02020603050405020304" pitchFamily="18" charset="0"/>
                <a:cs typeface="Times New Roman" panose="02020603050405020304" pitchFamily="18" charset="0"/>
              </a:rPr>
              <a:t>Key Product Goals – Explainable AI</a:t>
            </a:r>
          </a:p>
        </p:txBody>
      </p:sp>
      <p:sp>
        <p:nvSpPr>
          <p:cNvPr id="1184" name="TextBox 1183">
            <a:extLst>
              <a:ext uri="{FF2B5EF4-FFF2-40B4-BE49-F238E27FC236}">
                <a16:creationId xmlns:a16="http://schemas.microsoft.com/office/drawing/2014/main" id="{5D29A4E5-8FA0-9CB8-971C-1E5D85A07958}"/>
              </a:ext>
            </a:extLst>
          </p:cNvPr>
          <p:cNvSpPr txBox="1"/>
          <p:nvPr/>
        </p:nvSpPr>
        <p:spPr>
          <a:xfrm>
            <a:off x="287563" y="1307987"/>
            <a:ext cx="3615521" cy="378904"/>
          </a:xfrm>
          <a:prstGeom prst="rect">
            <a:avLst/>
          </a:prstGeom>
          <a:noFill/>
        </p:spPr>
        <p:txBody>
          <a:bodyPr wrap="square" rtlCol="0">
            <a:spAutoFit/>
          </a:bodyPr>
          <a:lstStyle/>
          <a:p>
            <a:pPr algn="ctr"/>
            <a:r>
              <a:rPr lang="en-US" b="1"/>
              <a:t>CONSOLIDATED DASHBOARD</a:t>
            </a:r>
          </a:p>
        </p:txBody>
      </p:sp>
      <p:pic>
        <p:nvPicPr>
          <p:cNvPr id="1205" name="Picture 1204">
            <a:extLst>
              <a:ext uri="{FF2B5EF4-FFF2-40B4-BE49-F238E27FC236}">
                <a16:creationId xmlns:a16="http://schemas.microsoft.com/office/drawing/2014/main" id="{2C7BF078-8336-5056-8898-C5B801320B7A}"/>
              </a:ext>
            </a:extLst>
          </p:cNvPr>
          <p:cNvPicPr>
            <a:picLocks noChangeAspect="1"/>
          </p:cNvPicPr>
          <p:nvPr/>
        </p:nvPicPr>
        <p:blipFill>
          <a:blip r:embed="rId5"/>
          <a:stretch>
            <a:fillRect/>
          </a:stretch>
        </p:blipFill>
        <p:spPr>
          <a:xfrm>
            <a:off x="272790" y="1661033"/>
            <a:ext cx="3630294" cy="2673759"/>
          </a:xfrm>
          <a:prstGeom prst="rect">
            <a:avLst/>
          </a:prstGeom>
        </p:spPr>
      </p:pic>
      <p:sp>
        <p:nvSpPr>
          <p:cNvPr id="1212" name="TextBox 1211">
            <a:extLst>
              <a:ext uri="{FF2B5EF4-FFF2-40B4-BE49-F238E27FC236}">
                <a16:creationId xmlns:a16="http://schemas.microsoft.com/office/drawing/2014/main" id="{19462034-2FB0-03C6-43C2-184973EBA580}"/>
              </a:ext>
            </a:extLst>
          </p:cNvPr>
          <p:cNvSpPr txBox="1"/>
          <p:nvPr/>
        </p:nvSpPr>
        <p:spPr>
          <a:xfrm>
            <a:off x="272790" y="717630"/>
            <a:ext cx="11626202" cy="400110"/>
          </a:xfrm>
          <a:prstGeom prst="rect">
            <a:avLst/>
          </a:prstGeom>
          <a:solidFill>
            <a:schemeClr val="accent1">
              <a:lumMod val="20000"/>
              <a:lumOff val="80000"/>
            </a:schemeClr>
          </a:solidFill>
        </p:spPr>
        <p:txBody>
          <a:bodyPr wrap="square" rtlCol="0">
            <a:spAutoFit/>
          </a:bodyPr>
          <a:lstStyle/>
          <a:p>
            <a:pPr algn="ctr"/>
            <a:r>
              <a:rPr lang="en-US" sz="2000" b="1"/>
              <a:t>Every decision made by PharmRebalance is visible, auditable, and explainable</a:t>
            </a:r>
          </a:p>
        </p:txBody>
      </p:sp>
      <p:sp>
        <p:nvSpPr>
          <p:cNvPr id="1215" name="Rectangle 1214">
            <a:extLst>
              <a:ext uri="{FF2B5EF4-FFF2-40B4-BE49-F238E27FC236}">
                <a16:creationId xmlns:a16="http://schemas.microsoft.com/office/drawing/2014/main" id="{F56D595F-5BDD-6821-352C-96CFF2B974DD}"/>
              </a:ext>
            </a:extLst>
          </p:cNvPr>
          <p:cNvSpPr/>
          <p:nvPr/>
        </p:nvSpPr>
        <p:spPr>
          <a:xfrm>
            <a:off x="287563" y="4710896"/>
            <a:ext cx="3615521" cy="199084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solidFill>
                  <a:schemeClr val="tx1"/>
                </a:solidFill>
              </a:rPr>
              <a:t>Single-pane view of service level, stockouts, cost savings, and actions executed. 8-week demand trends, 4-week inventory projections, and supply pipeline status. All in real time.</a:t>
            </a:r>
          </a:p>
        </p:txBody>
      </p:sp>
      <p:grpSp>
        <p:nvGrpSpPr>
          <p:cNvPr id="6" name="Group 5">
            <a:extLst>
              <a:ext uri="{FF2B5EF4-FFF2-40B4-BE49-F238E27FC236}">
                <a16:creationId xmlns:a16="http://schemas.microsoft.com/office/drawing/2014/main" id="{D8C485FA-2188-DD2D-877A-F6C57C111272}"/>
              </a:ext>
            </a:extLst>
          </p:cNvPr>
          <p:cNvGrpSpPr/>
          <p:nvPr/>
        </p:nvGrpSpPr>
        <p:grpSpPr>
          <a:xfrm>
            <a:off x="8288918" y="1307987"/>
            <a:ext cx="3681212" cy="5368759"/>
            <a:chOff x="4188323" y="1291709"/>
            <a:chExt cx="3681212" cy="5368759"/>
          </a:xfrm>
        </p:grpSpPr>
        <p:pic>
          <p:nvPicPr>
            <p:cNvPr id="1208" name="Picture 1207">
              <a:extLst>
                <a:ext uri="{FF2B5EF4-FFF2-40B4-BE49-F238E27FC236}">
                  <a16:creationId xmlns:a16="http://schemas.microsoft.com/office/drawing/2014/main" id="{8CE3265A-7CCB-D113-147C-BDA0C87FCF8C}"/>
                </a:ext>
              </a:extLst>
            </p:cNvPr>
            <p:cNvPicPr>
              <a:picLocks noChangeAspect="1"/>
            </p:cNvPicPr>
            <p:nvPr/>
          </p:nvPicPr>
          <p:blipFill>
            <a:blip r:embed="rId6"/>
            <a:stretch>
              <a:fillRect/>
            </a:stretch>
          </p:blipFill>
          <p:spPr>
            <a:xfrm>
              <a:off x="4188323" y="1651462"/>
              <a:ext cx="3472557" cy="2519932"/>
            </a:xfrm>
            <a:prstGeom prst="rect">
              <a:avLst/>
            </a:prstGeom>
          </p:spPr>
        </p:pic>
        <p:sp>
          <p:nvSpPr>
            <p:cNvPr id="1211" name="TextBox 1210">
              <a:extLst>
                <a:ext uri="{FF2B5EF4-FFF2-40B4-BE49-F238E27FC236}">
                  <a16:creationId xmlns:a16="http://schemas.microsoft.com/office/drawing/2014/main" id="{BC6307B7-29CD-1A65-1F92-067721D8E56D}"/>
                </a:ext>
              </a:extLst>
            </p:cNvPr>
            <p:cNvSpPr txBox="1"/>
            <p:nvPr/>
          </p:nvSpPr>
          <p:spPr>
            <a:xfrm>
              <a:off x="4252672" y="1291709"/>
              <a:ext cx="3616863" cy="369324"/>
            </a:xfrm>
            <a:prstGeom prst="rect">
              <a:avLst/>
            </a:prstGeom>
            <a:noFill/>
          </p:spPr>
          <p:txBody>
            <a:bodyPr wrap="square" rtlCol="0">
              <a:spAutoFit/>
            </a:bodyPr>
            <a:lstStyle/>
            <a:p>
              <a:pPr algn="ctr"/>
              <a:r>
                <a:rPr lang="en-US" b="1"/>
                <a:t>RISK RADAR</a:t>
              </a:r>
            </a:p>
          </p:txBody>
        </p:sp>
        <p:sp>
          <p:nvSpPr>
            <p:cNvPr id="1216" name="Rectangle 1215">
              <a:extLst>
                <a:ext uri="{FF2B5EF4-FFF2-40B4-BE49-F238E27FC236}">
                  <a16:creationId xmlns:a16="http://schemas.microsoft.com/office/drawing/2014/main" id="{7A2D072E-52E4-ED7D-F7A9-7B055EDDD02B}"/>
                </a:ext>
              </a:extLst>
            </p:cNvPr>
            <p:cNvSpPr/>
            <p:nvPr/>
          </p:nvSpPr>
          <p:spPr>
            <a:xfrm>
              <a:off x="4221168" y="4710896"/>
              <a:ext cx="3439712" cy="194957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solidFill>
                    <a:schemeClr val="tx1"/>
                  </a:solidFill>
                </a:rPr>
                <a:t>Live global events mapped to your network. This view instantly shows affected locations, at-risk SKUs, and recommended countermeasures before disruption hits</a:t>
              </a:r>
            </a:p>
          </p:txBody>
        </p:sp>
      </p:grpSp>
      <p:grpSp>
        <p:nvGrpSpPr>
          <p:cNvPr id="4" name="Group 3">
            <a:extLst>
              <a:ext uri="{FF2B5EF4-FFF2-40B4-BE49-F238E27FC236}">
                <a16:creationId xmlns:a16="http://schemas.microsoft.com/office/drawing/2014/main" id="{C5ADA8C1-FBAE-40F3-01CE-AF63B4AD3E1C}"/>
              </a:ext>
            </a:extLst>
          </p:cNvPr>
          <p:cNvGrpSpPr/>
          <p:nvPr/>
        </p:nvGrpSpPr>
        <p:grpSpPr>
          <a:xfrm>
            <a:off x="4233503" y="1307987"/>
            <a:ext cx="3660648" cy="5419613"/>
            <a:chOff x="8186277" y="1282129"/>
            <a:chExt cx="3660648" cy="5419613"/>
          </a:xfrm>
        </p:grpSpPr>
        <p:sp>
          <p:nvSpPr>
            <p:cNvPr id="1206" name="TextBox 1205">
              <a:extLst>
                <a:ext uri="{FF2B5EF4-FFF2-40B4-BE49-F238E27FC236}">
                  <a16:creationId xmlns:a16="http://schemas.microsoft.com/office/drawing/2014/main" id="{573F3983-60FB-3CD5-97E5-B5E8B1C1EFE9}"/>
                </a:ext>
              </a:extLst>
            </p:cNvPr>
            <p:cNvSpPr txBox="1"/>
            <p:nvPr/>
          </p:nvSpPr>
          <p:spPr>
            <a:xfrm>
              <a:off x="8219123" y="1282129"/>
              <a:ext cx="3615521" cy="369332"/>
            </a:xfrm>
            <a:prstGeom prst="rect">
              <a:avLst/>
            </a:prstGeom>
            <a:noFill/>
          </p:spPr>
          <p:txBody>
            <a:bodyPr wrap="square" rtlCol="0">
              <a:spAutoFit/>
            </a:bodyPr>
            <a:lstStyle/>
            <a:p>
              <a:pPr algn="ctr"/>
              <a:r>
                <a:rPr lang="en-US" b="1"/>
                <a:t>AI COMMAND CENTER</a:t>
              </a:r>
            </a:p>
          </p:txBody>
        </p:sp>
        <p:sp>
          <p:nvSpPr>
            <p:cNvPr id="1217" name="Rectangle 1216">
              <a:extLst>
                <a:ext uri="{FF2B5EF4-FFF2-40B4-BE49-F238E27FC236}">
                  <a16:creationId xmlns:a16="http://schemas.microsoft.com/office/drawing/2014/main" id="{A2B25228-7D1A-3FB1-A51F-3DAE9AD34C93}"/>
                </a:ext>
              </a:extLst>
            </p:cNvPr>
            <p:cNvSpPr/>
            <p:nvPr/>
          </p:nvSpPr>
          <p:spPr>
            <a:xfrm>
              <a:off x="8186277" y="4710896"/>
              <a:ext cx="3648367" cy="199084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solidFill>
                    <a:schemeClr val="tx1"/>
                  </a:solidFill>
                </a:rPr>
                <a:t>Ask any question in plain English. The system queries your real optimization data through deterministic function calls and returns precise, data-backed answers.</a:t>
              </a:r>
            </a:p>
          </p:txBody>
        </p:sp>
        <p:pic>
          <p:nvPicPr>
            <p:cNvPr id="3" name="Picture 2">
              <a:extLst>
                <a:ext uri="{FF2B5EF4-FFF2-40B4-BE49-F238E27FC236}">
                  <a16:creationId xmlns:a16="http://schemas.microsoft.com/office/drawing/2014/main" id="{5C47788A-F13E-777C-1AED-D52B9A74F9B1}"/>
                </a:ext>
              </a:extLst>
            </p:cNvPr>
            <p:cNvPicPr>
              <a:picLocks noChangeAspect="1"/>
            </p:cNvPicPr>
            <p:nvPr/>
          </p:nvPicPr>
          <p:blipFill>
            <a:blip r:embed="rId7"/>
            <a:srcRect l="13952" t="6537"/>
            <a:stretch>
              <a:fillRect/>
            </a:stretch>
          </p:blipFill>
          <p:spPr>
            <a:xfrm>
              <a:off x="8231404" y="1815850"/>
              <a:ext cx="3615521" cy="2362081"/>
            </a:xfrm>
            <a:prstGeom prst="rect">
              <a:avLst/>
            </a:prstGeom>
          </p:spPr>
        </p:pic>
      </p:grpSp>
    </p:spTree>
    <p:extLst>
      <p:ext uri="{BB962C8B-B14F-4D97-AF65-F5344CB8AC3E}">
        <p14:creationId xmlns:p14="http://schemas.microsoft.com/office/powerpoint/2010/main" val="84047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2071D-9F4B-F277-6EA0-6EBE4BDBE68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C91153F-6D91-532D-7F33-84AEF8CF5249}"/>
              </a:ext>
            </a:extLst>
          </p:cNvPr>
          <p:cNvPicPr>
            <a:picLocks noChangeAspect="1"/>
          </p:cNvPicPr>
          <p:nvPr/>
        </p:nvPicPr>
        <p:blipFill>
          <a:blip r:embed="rId3"/>
          <a:stretch>
            <a:fillRect/>
          </a:stretch>
        </p:blipFill>
        <p:spPr>
          <a:xfrm>
            <a:off x="83618" y="30573"/>
            <a:ext cx="667287" cy="526600"/>
          </a:xfrm>
          <a:prstGeom prst="rect">
            <a:avLst/>
          </a:prstGeom>
        </p:spPr>
      </p:pic>
      <p:cxnSp>
        <p:nvCxnSpPr>
          <p:cNvPr id="7" name="Straight Connector 6">
            <a:extLst>
              <a:ext uri="{FF2B5EF4-FFF2-40B4-BE49-F238E27FC236}">
                <a16:creationId xmlns:a16="http://schemas.microsoft.com/office/drawing/2014/main" id="{8921F8C5-CEF3-16BA-BDF4-B425283A7E0C}"/>
              </a:ext>
            </a:extLst>
          </p:cNvPr>
          <p:cNvCxnSpPr>
            <a:cxnSpLocks/>
          </p:cNvCxnSpPr>
          <p:nvPr/>
        </p:nvCxnSpPr>
        <p:spPr>
          <a:xfrm>
            <a:off x="0" y="578236"/>
            <a:ext cx="12192000" cy="0"/>
          </a:xfrm>
          <a:prstGeom prst="line">
            <a:avLst/>
          </a:prstGeom>
          <a:ln w="6350"/>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BBF47383-06A4-BE48-7E36-4722DEAAF610}"/>
              </a:ext>
            </a:extLst>
          </p:cNvPr>
          <p:cNvCxnSpPr>
            <a:cxnSpLocks/>
          </p:cNvCxnSpPr>
          <p:nvPr/>
        </p:nvCxnSpPr>
        <p:spPr>
          <a:xfrm>
            <a:off x="816864"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0B6646A-D4EB-08F4-C506-C6050D14CC1F}"/>
              </a:ext>
            </a:extLst>
          </p:cNvPr>
          <p:cNvCxnSpPr>
            <a:cxnSpLocks/>
          </p:cNvCxnSpPr>
          <p:nvPr/>
        </p:nvCxnSpPr>
        <p:spPr>
          <a:xfrm>
            <a:off x="8274050"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5C445A6C-D0C2-C3E3-4183-96F50AC32426}"/>
              </a:ext>
            </a:extLst>
          </p:cNvPr>
          <p:cNvPicPr>
            <a:picLocks noChangeAspect="1"/>
          </p:cNvPicPr>
          <p:nvPr/>
        </p:nvPicPr>
        <p:blipFill>
          <a:blip r:embed="rId4"/>
          <a:srcRect r="1510"/>
          <a:stretch>
            <a:fillRect/>
          </a:stretch>
        </p:blipFill>
        <p:spPr>
          <a:xfrm>
            <a:off x="8427504" y="178010"/>
            <a:ext cx="2950899" cy="259666"/>
          </a:xfrm>
          <a:prstGeom prst="rect">
            <a:avLst/>
          </a:prstGeom>
        </p:spPr>
      </p:pic>
      <p:sp>
        <p:nvSpPr>
          <p:cNvPr id="23" name="TextBox 22">
            <a:extLst>
              <a:ext uri="{FF2B5EF4-FFF2-40B4-BE49-F238E27FC236}">
                <a16:creationId xmlns:a16="http://schemas.microsoft.com/office/drawing/2014/main" id="{89CFD5DA-CCBE-F807-9AAB-4234372EFABA}"/>
              </a:ext>
            </a:extLst>
          </p:cNvPr>
          <p:cNvSpPr txBox="1"/>
          <p:nvPr/>
        </p:nvSpPr>
        <p:spPr>
          <a:xfrm>
            <a:off x="11337036" y="53071"/>
            <a:ext cx="774613" cy="461665"/>
          </a:xfrm>
          <a:prstGeom prst="rect">
            <a:avLst/>
          </a:prstGeom>
          <a:noFill/>
        </p:spPr>
        <p:txBody>
          <a:bodyPr wrap="square" rtlCol="0">
            <a:spAutoFit/>
          </a:bodyPr>
          <a:lstStyle/>
          <a:p>
            <a:r>
              <a:rPr lang="en-US" sz="2400">
                <a:latin typeface="Calibri" panose="020F0502020204030204" pitchFamily="34" charset="0"/>
                <a:ea typeface="Calibri" panose="020F0502020204030204" pitchFamily="34" charset="0"/>
                <a:cs typeface="Calibri" panose="020F0502020204030204" pitchFamily="34" charset="0"/>
              </a:rPr>
              <a:t>now</a:t>
            </a:r>
          </a:p>
        </p:txBody>
      </p:sp>
      <p:sp>
        <p:nvSpPr>
          <p:cNvPr id="24" name="TextBox 23">
            <a:extLst>
              <a:ext uri="{FF2B5EF4-FFF2-40B4-BE49-F238E27FC236}">
                <a16:creationId xmlns:a16="http://schemas.microsoft.com/office/drawing/2014/main" id="{B230950E-526F-27ED-504A-70FACCD963BF}"/>
              </a:ext>
            </a:extLst>
          </p:cNvPr>
          <p:cNvSpPr txBox="1"/>
          <p:nvPr/>
        </p:nvSpPr>
        <p:spPr>
          <a:xfrm>
            <a:off x="816864" y="0"/>
            <a:ext cx="7457175" cy="584775"/>
          </a:xfrm>
          <a:prstGeom prst="rect">
            <a:avLst/>
          </a:prstGeom>
          <a:solidFill>
            <a:schemeClr val="accent2"/>
          </a:solidFill>
        </p:spPr>
        <p:txBody>
          <a:bodyPr wrap="square" rtlCol="0">
            <a:spAutoFit/>
          </a:bodyPr>
          <a:lstStyle/>
          <a:p>
            <a:pPr algn="ctr"/>
            <a:r>
              <a:rPr lang="en-US" sz="3200">
                <a:solidFill>
                  <a:schemeClr val="bg1"/>
                </a:solidFill>
                <a:latin typeface="Times New Roman" panose="02020603050405020304" pitchFamily="18" charset="0"/>
                <a:cs typeface="Times New Roman" panose="02020603050405020304" pitchFamily="18" charset="0"/>
              </a:rPr>
              <a:t>Key Product Goals – Explainable AI</a:t>
            </a:r>
          </a:p>
        </p:txBody>
      </p:sp>
      <p:sp>
        <p:nvSpPr>
          <p:cNvPr id="1184" name="TextBox 1183">
            <a:extLst>
              <a:ext uri="{FF2B5EF4-FFF2-40B4-BE49-F238E27FC236}">
                <a16:creationId xmlns:a16="http://schemas.microsoft.com/office/drawing/2014/main" id="{682345FB-BA47-45C9-4D78-C3ED5C6B9F32}"/>
              </a:ext>
            </a:extLst>
          </p:cNvPr>
          <p:cNvSpPr txBox="1"/>
          <p:nvPr/>
        </p:nvSpPr>
        <p:spPr>
          <a:xfrm>
            <a:off x="287563" y="1307987"/>
            <a:ext cx="3615521" cy="378904"/>
          </a:xfrm>
          <a:prstGeom prst="rect">
            <a:avLst/>
          </a:prstGeom>
          <a:noFill/>
        </p:spPr>
        <p:txBody>
          <a:bodyPr wrap="square" rtlCol="0">
            <a:spAutoFit/>
          </a:bodyPr>
          <a:lstStyle/>
          <a:p>
            <a:pPr algn="ctr"/>
            <a:r>
              <a:rPr lang="en-US" b="1"/>
              <a:t>INVENTORY PLANNING</a:t>
            </a:r>
          </a:p>
        </p:txBody>
      </p:sp>
      <p:sp>
        <p:nvSpPr>
          <p:cNvPr id="1206" name="TextBox 1205">
            <a:extLst>
              <a:ext uri="{FF2B5EF4-FFF2-40B4-BE49-F238E27FC236}">
                <a16:creationId xmlns:a16="http://schemas.microsoft.com/office/drawing/2014/main" id="{F937E0C1-0E0D-03A5-E4BD-59AAFBAC19C3}"/>
              </a:ext>
            </a:extLst>
          </p:cNvPr>
          <p:cNvSpPr txBox="1"/>
          <p:nvPr/>
        </p:nvSpPr>
        <p:spPr>
          <a:xfrm>
            <a:off x="8219123" y="1282129"/>
            <a:ext cx="3615521" cy="369332"/>
          </a:xfrm>
          <a:prstGeom prst="rect">
            <a:avLst/>
          </a:prstGeom>
          <a:noFill/>
        </p:spPr>
        <p:txBody>
          <a:bodyPr wrap="square" rtlCol="0">
            <a:spAutoFit/>
          </a:bodyPr>
          <a:lstStyle/>
          <a:p>
            <a:pPr algn="ctr"/>
            <a:r>
              <a:rPr lang="en-US" b="1"/>
              <a:t>NETWORK HEALTH</a:t>
            </a:r>
          </a:p>
        </p:txBody>
      </p:sp>
      <p:sp>
        <p:nvSpPr>
          <p:cNvPr id="1211" name="TextBox 1210">
            <a:extLst>
              <a:ext uri="{FF2B5EF4-FFF2-40B4-BE49-F238E27FC236}">
                <a16:creationId xmlns:a16="http://schemas.microsoft.com/office/drawing/2014/main" id="{5693ECE7-B463-3EDA-C55B-125D3DE00A74}"/>
              </a:ext>
            </a:extLst>
          </p:cNvPr>
          <p:cNvSpPr txBox="1"/>
          <p:nvPr/>
        </p:nvSpPr>
        <p:spPr>
          <a:xfrm>
            <a:off x="4252672" y="1291709"/>
            <a:ext cx="3616863" cy="369324"/>
          </a:xfrm>
          <a:prstGeom prst="rect">
            <a:avLst/>
          </a:prstGeom>
          <a:noFill/>
        </p:spPr>
        <p:txBody>
          <a:bodyPr wrap="square" rtlCol="0">
            <a:spAutoFit/>
          </a:bodyPr>
          <a:lstStyle/>
          <a:p>
            <a:pPr algn="ctr"/>
            <a:r>
              <a:rPr lang="en-US" b="1"/>
              <a:t>RECOMMENDATIONS</a:t>
            </a:r>
          </a:p>
        </p:txBody>
      </p:sp>
      <p:sp>
        <p:nvSpPr>
          <p:cNvPr id="1212" name="TextBox 1211">
            <a:extLst>
              <a:ext uri="{FF2B5EF4-FFF2-40B4-BE49-F238E27FC236}">
                <a16:creationId xmlns:a16="http://schemas.microsoft.com/office/drawing/2014/main" id="{BC2FB5CA-3C85-4AF6-FCE1-05286EE9703E}"/>
              </a:ext>
            </a:extLst>
          </p:cNvPr>
          <p:cNvSpPr txBox="1"/>
          <p:nvPr/>
        </p:nvSpPr>
        <p:spPr>
          <a:xfrm>
            <a:off x="272790" y="717630"/>
            <a:ext cx="11626202" cy="400110"/>
          </a:xfrm>
          <a:prstGeom prst="rect">
            <a:avLst/>
          </a:prstGeom>
          <a:solidFill>
            <a:schemeClr val="accent1">
              <a:lumMod val="20000"/>
              <a:lumOff val="80000"/>
            </a:schemeClr>
          </a:solidFill>
        </p:spPr>
        <p:txBody>
          <a:bodyPr wrap="square" rtlCol="0">
            <a:spAutoFit/>
          </a:bodyPr>
          <a:lstStyle/>
          <a:p>
            <a:pPr algn="ctr"/>
            <a:r>
              <a:rPr lang="en-US" sz="2000" b="1"/>
              <a:t>Every decision made by PharmRebalance is visible, auditable, and explainable</a:t>
            </a:r>
          </a:p>
        </p:txBody>
      </p:sp>
      <p:sp>
        <p:nvSpPr>
          <p:cNvPr id="1215" name="Rectangle 1214">
            <a:extLst>
              <a:ext uri="{FF2B5EF4-FFF2-40B4-BE49-F238E27FC236}">
                <a16:creationId xmlns:a16="http://schemas.microsoft.com/office/drawing/2014/main" id="{9E969A1B-54D5-AA3F-8530-1A893CFE97A1}"/>
              </a:ext>
            </a:extLst>
          </p:cNvPr>
          <p:cNvSpPr/>
          <p:nvPr/>
        </p:nvSpPr>
        <p:spPr>
          <a:xfrm>
            <a:off x="287563" y="4710896"/>
            <a:ext cx="3615521" cy="199084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solidFill>
                  <a:schemeClr val="tx1"/>
                </a:solidFill>
              </a:rPr>
              <a:t>Batch-level visibility across every location. Demand patterns and forecast confidence broken down by SKU , so you know where your data is reliable and where to be cautious</a:t>
            </a:r>
          </a:p>
        </p:txBody>
      </p:sp>
      <p:sp>
        <p:nvSpPr>
          <p:cNvPr id="1216" name="Rectangle 1215">
            <a:extLst>
              <a:ext uri="{FF2B5EF4-FFF2-40B4-BE49-F238E27FC236}">
                <a16:creationId xmlns:a16="http://schemas.microsoft.com/office/drawing/2014/main" id="{32AE7771-551C-9F61-8D42-A63C911EBC2B}"/>
              </a:ext>
            </a:extLst>
          </p:cNvPr>
          <p:cNvSpPr/>
          <p:nvPr/>
        </p:nvSpPr>
        <p:spPr>
          <a:xfrm>
            <a:off x="4221168" y="4710896"/>
            <a:ext cx="3648367" cy="199084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solidFill>
                  <a:schemeClr val="tx1"/>
                </a:solidFill>
              </a:rPr>
              <a:t>Every action the system recommends comes with its cost, carbon footprint, stockout impact, and therapeutic area. Nothing is a black box, every recommendation is fully traceable</a:t>
            </a:r>
          </a:p>
        </p:txBody>
      </p:sp>
      <p:sp>
        <p:nvSpPr>
          <p:cNvPr id="1217" name="Rectangle 1216">
            <a:extLst>
              <a:ext uri="{FF2B5EF4-FFF2-40B4-BE49-F238E27FC236}">
                <a16:creationId xmlns:a16="http://schemas.microsoft.com/office/drawing/2014/main" id="{79EDC42C-E472-B7FA-3D84-64C20EDFCC15}"/>
              </a:ext>
            </a:extLst>
          </p:cNvPr>
          <p:cNvSpPr/>
          <p:nvPr/>
        </p:nvSpPr>
        <p:spPr>
          <a:xfrm>
            <a:off x="8186277" y="4710896"/>
            <a:ext cx="3648367" cy="199084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solidFill>
                  <a:schemeClr val="tx1"/>
                </a:solidFill>
              </a:rPr>
              <a:t>Every node in the supply chain scored and color-coded by health. Full topology view from plants to depots, you see exactly where the network is strong and where it's breaking down</a:t>
            </a:r>
          </a:p>
        </p:txBody>
      </p:sp>
      <p:pic>
        <p:nvPicPr>
          <p:cNvPr id="3" name="Picture 2">
            <a:extLst>
              <a:ext uri="{FF2B5EF4-FFF2-40B4-BE49-F238E27FC236}">
                <a16:creationId xmlns:a16="http://schemas.microsoft.com/office/drawing/2014/main" id="{759EB6E6-6244-2AA7-62CC-B05A1A0D691B}"/>
              </a:ext>
            </a:extLst>
          </p:cNvPr>
          <p:cNvPicPr>
            <a:picLocks noChangeAspect="1"/>
          </p:cNvPicPr>
          <p:nvPr/>
        </p:nvPicPr>
        <p:blipFill>
          <a:blip r:embed="rId5"/>
          <a:stretch>
            <a:fillRect/>
          </a:stretch>
        </p:blipFill>
        <p:spPr>
          <a:xfrm>
            <a:off x="287563" y="1899416"/>
            <a:ext cx="3597508" cy="2448746"/>
          </a:xfrm>
          <a:prstGeom prst="rect">
            <a:avLst/>
          </a:prstGeom>
        </p:spPr>
      </p:pic>
      <p:pic>
        <p:nvPicPr>
          <p:cNvPr id="6" name="Picture 5">
            <a:extLst>
              <a:ext uri="{FF2B5EF4-FFF2-40B4-BE49-F238E27FC236}">
                <a16:creationId xmlns:a16="http://schemas.microsoft.com/office/drawing/2014/main" id="{16A3BD16-B58A-B3B7-E2BC-8CA8EC18057A}"/>
              </a:ext>
            </a:extLst>
          </p:cNvPr>
          <p:cNvPicPr>
            <a:picLocks noChangeAspect="1"/>
          </p:cNvPicPr>
          <p:nvPr/>
        </p:nvPicPr>
        <p:blipFill>
          <a:blip r:embed="rId6"/>
          <a:stretch>
            <a:fillRect/>
          </a:stretch>
        </p:blipFill>
        <p:spPr>
          <a:xfrm>
            <a:off x="4262349" y="1761280"/>
            <a:ext cx="3597508" cy="2506548"/>
          </a:xfrm>
          <a:prstGeom prst="rect">
            <a:avLst/>
          </a:prstGeom>
        </p:spPr>
      </p:pic>
      <p:pic>
        <p:nvPicPr>
          <p:cNvPr id="9" name="Picture 8">
            <a:extLst>
              <a:ext uri="{FF2B5EF4-FFF2-40B4-BE49-F238E27FC236}">
                <a16:creationId xmlns:a16="http://schemas.microsoft.com/office/drawing/2014/main" id="{A97D9E70-DDB2-19A1-10DE-F55165A07CE9}"/>
              </a:ext>
            </a:extLst>
          </p:cNvPr>
          <p:cNvPicPr>
            <a:picLocks noChangeAspect="1"/>
          </p:cNvPicPr>
          <p:nvPr/>
        </p:nvPicPr>
        <p:blipFill>
          <a:blip r:embed="rId7"/>
          <a:stretch>
            <a:fillRect/>
          </a:stretch>
        </p:blipFill>
        <p:spPr>
          <a:xfrm>
            <a:off x="8228128" y="1761280"/>
            <a:ext cx="3601824" cy="2506548"/>
          </a:xfrm>
          <a:prstGeom prst="rect">
            <a:avLst/>
          </a:prstGeom>
        </p:spPr>
      </p:pic>
    </p:spTree>
    <p:extLst>
      <p:ext uri="{BB962C8B-B14F-4D97-AF65-F5344CB8AC3E}">
        <p14:creationId xmlns:p14="http://schemas.microsoft.com/office/powerpoint/2010/main" val="364514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D4119-AC98-E4C0-A695-025C716D203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6DA5BBC-8806-362A-8F73-CC94E299B475}"/>
              </a:ext>
            </a:extLst>
          </p:cNvPr>
          <p:cNvPicPr>
            <a:picLocks noChangeAspect="1"/>
          </p:cNvPicPr>
          <p:nvPr/>
        </p:nvPicPr>
        <p:blipFill>
          <a:blip r:embed="rId3"/>
          <a:stretch>
            <a:fillRect/>
          </a:stretch>
        </p:blipFill>
        <p:spPr>
          <a:xfrm>
            <a:off x="83618" y="30573"/>
            <a:ext cx="667287" cy="526600"/>
          </a:xfrm>
          <a:prstGeom prst="rect">
            <a:avLst/>
          </a:prstGeom>
        </p:spPr>
      </p:pic>
      <p:cxnSp>
        <p:nvCxnSpPr>
          <p:cNvPr id="7" name="Straight Connector 6">
            <a:extLst>
              <a:ext uri="{FF2B5EF4-FFF2-40B4-BE49-F238E27FC236}">
                <a16:creationId xmlns:a16="http://schemas.microsoft.com/office/drawing/2014/main" id="{B2A409D0-A3EC-4745-DDCB-8268123FD498}"/>
              </a:ext>
            </a:extLst>
          </p:cNvPr>
          <p:cNvCxnSpPr>
            <a:cxnSpLocks/>
          </p:cNvCxnSpPr>
          <p:nvPr/>
        </p:nvCxnSpPr>
        <p:spPr>
          <a:xfrm>
            <a:off x="0" y="578236"/>
            <a:ext cx="12192000" cy="0"/>
          </a:xfrm>
          <a:prstGeom prst="line">
            <a:avLst/>
          </a:prstGeom>
          <a:ln w="6350"/>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DDCE3A46-2BF9-32E5-5BAD-E7BDED035E85}"/>
              </a:ext>
            </a:extLst>
          </p:cNvPr>
          <p:cNvCxnSpPr>
            <a:cxnSpLocks/>
          </p:cNvCxnSpPr>
          <p:nvPr/>
        </p:nvCxnSpPr>
        <p:spPr>
          <a:xfrm>
            <a:off x="816864"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60353EA-BA0D-10F9-03AF-FB502E8133BE}"/>
              </a:ext>
            </a:extLst>
          </p:cNvPr>
          <p:cNvCxnSpPr>
            <a:cxnSpLocks/>
          </p:cNvCxnSpPr>
          <p:nvPr/>
        </p:nvCxnSpPr>
        <p:spPr>
          <a:xfrm>
            <a:off x="8274050"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072CE743-165A-C715-4427-26C9E7AEADB7}"/>
              </a:ext>
            </a:extLst>
          </p:cNvPr>
          <p:cNvPicPr>
            <a:picLocks noChangeAspect="1"/>
          </p:cNvPicPr>
          <p:nvPr/>
        </p:nvPicPr>
        <p:blipFill>
          <a:blip r:embed="rId4"/>
          <a:srcRect r="1510"/>
          <a:stretch>
            <a:fillRect/>
          </a:stretch>
        </p:blipFill>
        <p:spPr>
          <a:xfrm>
            <a:off x="8427504" y="178010"/>
            <a:ext cx="2950899" cy="259666"/>
          </a:xfrm>
          <a:prstGeom prst="rect">
            <a:avLst/>
          </a:prstGeom>
        </p:spPr>
      </p:pic>
      <p:sp>
        <p:nvSpPr>
          <p:cNvPr id="23" name="TextBox 22">
            <a:extLst>
              <a:ext uri="{FF2B5EF4-FFF2-40B4-BE49-F238E27FC236}">
                <a16:creationId xmlns:a16="http://schemas.microsoft.com/office/drawing/2014/main" id="{84046330-BA50-C473-24BC-9AB264ED79F8}"/>
              </a:ext>
            </a:extLst>
          </p:cNvPr>
          <p:cNvSpPr txBox="1"/>
          <p:nvPr/>
        </p:nvSpPr>
        <p:spPr>
          <a:xfrm>
            <a:off x="11337036" y="53071"/>
            <a:ext cx="774613" cy="461665"/>
          </a:xfrm>
          <a:prstGeom prst="rect">
            <a:avLst/>
          </a:prstGeom>
          <a:noFill/>
        </p:spPr>
        <p:txBody>
          <a:bodyPr wrap="square" rtlCol="0">
            <a:spAutoFit/>
          </a:bodyPr>
          <a:lstStyle/>
          <a:p>
            <a:r>
              <a:rPr lang="en-US" sz="2400">
                <a:latin typeface="Calibri" panose="020F0502020204030204" pitchFamily="34" charset="0"/>
                <a:ea typeface="Calibri" panose="020F0502020204030204" pitchFamily="34" charset="0"/>
                <a:cs typeface="Calibri" panose="020F0502020204030204" pitchFamily="34" charset="0"/>
              </a:rPr>
              <a:t>now</a:t>
            </a:r>
          </a:p>
        </p:txBody>
      </p:sp>
      <p:sp>
        <p:nvSpPr>
          <p:cNvPr id="24" name="TextBox 23">
            <a:extLst>
              <a:ext uri="{FF2B5EF4-FFF2-40B4-BE49-F238E27FC236}">
                <a16:creationId xmlns:a16="http://schemas.microsoft.com/office/drawing/2014/main" id="{92187D7E-0608-6241-23A1-D225C5EB6BC3}"/>
              </a:ext>
            </a:extLst>
          </p:cNvPr>
          <p:cNvSpPr txBox="1"/>
          <p:nvPr/>
        </p:nvSpPr>
        <p:spPr>
          <a:xfrm>
            <a:off x="816864" y="0"/>
            <a:ext cx="7457175" cy="584775"/>
          </a:xfrm>
          <a:prstGeom prst="rect">
            <a:avLst/>
          </a:prstGeom>
          <a:solidFill>
            <a:schemeClr val="accent2"/>
          </a:solidFill>
        </p:spPr>
        <p:txBody>
          <a:bodyPr wrap="square" rtlCol="0">
            <a:spAutoFit/>
          </a:bodyPr>
          <a:lstStyle/>
          <a:p>
            <a:pPr algn="ctr"/>
            <a:r>
              <a:rPr lang="en-US" sz="3200">
                <a:solidFill>
                  <a:schemeClr val="bg1"/>
                </a:solidFill>
                <a:latin typeface="Times New Roman" panose="02020603050405020304" pitchFamily="18" charset="0"/>
                <a:cs typeface="Times New Roman" panose="02020603050405020304" pitchFamily="18" charset="0"/>
              </a:rPr>
              <a:t>Key Product Goals – Determinism</a:t>
            </a:r>
          </a:p>
        </p:txBody>
      </p:sp>
      <p:sp>
        <p:nvSpPr>
          <p:cNvPr id="31" name="TextBox 30">
            <a:extLst>
              <a:ext uri="{FF2B5EF4-FFF2-40B4-BE49-F238E27FC236}">
                <a16:creationId xmlns:a16="http://schemas.microsoft.com/office/drawing/2014/main" id="{997DE640-60B9-12A9-3F38-2C64123864F6}"/>
              </a:ext>
            </a:extLst>
          </p:cNvPr>
          <p:cNvSpPr txBox="1"/>
          <p:nvPr/>
        </p:nvSpPr>
        <p:spPr>
          <a:xfrm>
            <a:off x="404832" y="730444"/>
            <a:ext cx="4711700" cy="369332"/>
          </a:xfrm>
          <a:prstGeom prst="rect">
            <a:avLst/>
          </a:prstGeom>
          <a:noFill/>
        </p:spPr>
        <p:txBody>
          <a:bodyPr wrap="square" rtlCol="0">
            <a:spAutoFit/>
          </a:bodyPr>
          <a:lstStyle/>
          <a:p>
            <a:pPr algn="ctr"/>
            <a:r>
              <a:rPr lang="en-US" b="1"/>
              <a:t>LP BASED SOLVER FOR TRANSFER COST</a:t>
            </a:r>
          </a:p>
        </p:txBody>
      </p:sp>
      <p:sp>
        <p:nvSpPr>
          <p:cNvPr id="1187" name="Rectangle 1186">
            <a:extLst>
              <a:ext uri="{FF2B5EF4-FFF2-40B4-BE49-F238E27FC236}">
                <a16:creationId xmlns:a16="http://schemas.microsoft.com/office/drawing/2014/main" id="{82ADD891-13F3-744F-AC42-2320DEE34954}"/>
              </a:ext>
            </a:extLst>
          </p:cNvPr>
          <p:cNvSpPr/>
          <p:nvPr/>
        </p:nvSpPr>
        <p:spPr>
          <a:xfrm>
            <a:off x="447221" y="1163011"/>
            <a:ext cx="4762497" cy="170836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solidFill>
                  <a:schemeClr val="tx1"/>
                </a:solidFill>
              </a:rPr>
              <a:t>We constrain FEFO, Cold Chain Compatibility and Integral Solutions. There is a penalty in the optimizer for unmet demand weighed by therapeutic criticality (E.g. Unmet demand for cancer drugs are penalized more )</a:t>
            </a:r>
          </a:p>
        </p:txBody>
      </p:sp>
      <p:sp>
        <p:nvSpPr>
          <p:cNvPr id="1189" name="Rectangle: Rounded Corners 1188">
            <a:extLst>
              <a:ext uri="{FF2B5EF4-FFF2-40B4-BE49-F238E27FC236}">
                <a16:creationId xmlns:a16="http://schemas.microsoft.com/office/drawing/2014/main" id="{747D4870-53D5-C400-0423-C63EF2CA210A}"/>
              </a:ext>
            </a:extLst>
          </p:cNvPr>
          <p:cNvSpPr/>
          <p:nvPr/>
        </p:nvSpPr>
        <p:spPr>
          <a:xfrm>
            <a:off x="447219" y="3201575"/>
            <a:ext cx="4762499" cy="2228636"/>
          </a:xfrm>
          <a:prstGeom prst="roundRect">
            <a:avLst>
              <a:gd name="adj" fmla="val 33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0" name="Rectangle: Rounded Corners 1189">
            <a:extLst>
              <a:ext uri="{FF2B5EF4-FFF2-40B4-BE49-F238E27FC236}">
                <a16:creationId xmlns:a16="http://schemas.microsoft.com/office/drawing/2014/main" id="{91FCAB2C-9993-4114-E91B-B4208091A141}"/>
              </a:ext>
            </a:extLst>
          </p:cNvPr>
          <p:cNvSpPr/>
          <p:nvPr/>
        </p:nvSpPr>
        <p:spPr>
          <a:xfrm>
            <a:off x="447219" y="5760411"/>
            <a:ext cx="4762499" cy="838199"/>
          </a:xfrm>
          <a:prstGeom prst="roundRect">
            <a:avLst>
              <a:gd name="adj" fmla="val 89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Every recommendation is mathematically proven, not probabilistically guessed</a:t>
            </a:r>
          </a:p>
        </p:txBody>
      </p:sp>
      <p:cxnSp>
        <p:nvCxnSpPr>
          <p:cNvPr id="1192" name="Straight Arrow Connector 1191">
            <a:extLst>
              <a:ext uri="{FF2B5EF4-FFF2-40B4-BE49-F238E27FC236}">
                <a16:creationId xmlns:a16="http://schemas.microsoft.com/office/drawing/2014/main" id="{EDACA792-B017-6B94-C468-51D0B0FE1CC8}"/>
              </a:ext>
            </a:extLst>
          </p:cNvPr>
          <p:cNvCxnSpPr>
            <a:cxnSpLocks/>
            <a:stCxn id="1187" idx="2"/>
            <a:endCxn id="1189" idx="0"/>
          </p:cNvCxnSpPr>
          <p:nvPr/>
        </p:nvCxnSpPr>
        <p:spPr>
          <a:xfrm flipH="1">
            <a:off x="2828469" y="2871374"/>
            <a:ext cx="1" cy="330201"/>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95" name="Straight Arrow Connector 1194">
            <a:extLst>
              <a:ext uri="{FF2B5EF4-FFF2-40B4-BE49-F238E27FC236}">
                <a16:creationId xmlns:a16="http://schemas.microsoft.com/office/drawing/2014/main" id="{4FA6218D-32E8-48E6-F794-88ABBE5DB79C}"/>
              </a:ext>
            </a:extLst>
          </p:cNvPr>
          <p:cNvCxnSpPr>
            <a:cxnSpLocks/>
            <a:stCxn id="1189" idx="2"/>
            <a:endCxn id="1190" idx="0"/>
          </p:cNvCxnSpPr>
          <p:nvPr/>
        </p:nvCxnSpPr>
        <p:spPr>
          <a:xfrm>
            <a:off x="2828469" y="5430211"/>
            <a:ext cx="0" cy="330200"/>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AA0913DC-F04E-F548-B352-905EE46AD759}"/>
              </a:ext>
            </a:extLst>
          </p:cNvPr>
          <p:cNvPicPr>
            <a:picLocks noChangeAspect="1"/>
          </p:cNvPicPr>
          <p:nvPr/>
        </p:nvPicPr>
        <p:blipFill>
          <a:blip r:embed="rId5"/>
          <a:stretch>
            <a:fillRect/>
          </a:stretch>
        </p:blipFill>
        <p:spPr>
          <a:xfrm>
            <a:off x="476746" y="3201575"/>
            <a:ext cx="4567872" cy="2152949"/>
          </a:xfrm>
          <a:prstGeom prst="rect">
            <a:avLst/>
          </a:prstGeom>
        </p:spPr>
      </p:pic>
      <p:sp>
        <p:nvSpPr>
          <p:cNvPr id="17" name="TextBox 16">
            <a:extLst>
              <a:ext uri="{FF2B5EF4-FFF2-40B4-BE49-F238E27FC236}">
                <a16:creationId xmlns:a16="http://schemas.microsoft.com/office/drawing/2014/main" id="{CEE4F10F-01AB-02AC-52EC-CD41FD118B66}"/>
              </a:ext>
            </a:extLst>
          </p:cNvPr>
          <p:cNvSpPr txBox="1"/>
          <p:nvPr/>
        </p:nvSpPr>
        <p:spPr>
          <a:xfrm>
            <a:off x="6062328" y="775366"/>
            <a:ext cx="5440589" cy="369332"/>
          </a:xfrm>
          <a:prstGeom prst="rect">
            <a:avLst/>
          </a:prstGeom>
          <a:noFill/>
        </p:spPr>
        <p:txBody>
          <a:bodyPr wrap="square" rtlCol="0">
            <a:spAutoFit/>
          </a:bodyPr>
          <a:lstStyle/>
          <a:p>
            <a:pPr algn="ctr"/>
            <a:r>
              <a:rPr lang="en-US" b="1"/>
              <a:t>LLM FUNCTION CALLING IN COMMAND CENTER</a:t>
            </a:r>
          </a:p>
        </p:txBody>
      </p:sp>
      <p:sp>
        <p:nvSpPr>
          <p:cNvPr id="18" name="Rectangle 17">
            <a:extLst>
              <a:ext uri="{FF2B5EF4-FFF2-40B4-BE49-F238E27FC236}">
                <a16:creationId xmlns:a16="http://schemas.microsoft.com/office/drawing/2014/main" id="{4764A9C7-9449-14B5-7346-472569F86A69}"/>
              </a:ext>
            </a:extLst>
          </p:cNvPr>
          <p:cNvSpPr/>
          <p:nvPr/>
        </p:nvSpPr>
        <p:spPr>
          <a:xfrm>
            <a:off x="6440788" y="1250066"/>
            <a:ext cx="4762497" cy="110589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solidFill>
                  <a:schemeClr val="tx1"/>
                </a:solidFill>
              </a:rPr>
              <a:t>The LLM selects from 9 deterministic Python functions that query real pipeline data. The answers come from computed optimization outputs, not probabilistic generation</a:t>
            </a:r>
          </a:p>
        </p:txBody>
      </p:sp>
      <p:sp>
        <p:nvSpPr>
          <p:cNvPr id="19" name="Rectangle: Rounded Corners 18">
            <a:extLst>
              <a:ext uri="{FF2B5EF4-FFF2-40B4-BE49-F238E27FC236}">
                <a16:creationId xmlns:a16="http://schemas.microsoft.com/office/drawing/2014/main" id="{B21DB2C6-17EA-FCB5-6CDE-91DB503DF139}"/>
              </a:ext>
            </a:extLst>
          </p:cNvPr>
          <p:cNvSpPr/>
          <p:nvPr/>
        </p:nvSpPr>
        <p:spPr>
          <a:xfrm>
            <a:off x="6982284" y="2731215"/>
            <a:ext cx="3672881" cy="2698996"/>
          </a:xfrm>
          <a:prstGeom prst="roundRect">
            <a:avLst>
              <a:gd name="adj" fmla="val 33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E4F88CB4-5B71-0E01-25CD-F149300361A8}"/>
              </a:ext>
            </a:extLst>
          </p:cNvPr>
          <p:cNvSpPr/>
          <p:nvPr/>
        </p:nvSpPr>
        <p:spPr>
          <a:xfrm>
            <a:off x="6442736" y="5760411"/>
            <a:ext cx="4762499" cy="838199"/>
          </a:xfrm>
          <a:prstGeom prst="roundRect">
            <a:avLst>
              <a:gd name="adj" fmla="val 89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The LLM decides </a:t>
            </a:r>
            <a:r>
              <a:rPr lang="en-US" i="1">
                <a:solidFill>
                  <a:schemeClr val="tx1"/>
                </a:solidFill>
              </a:rPr>
              <a:t>what to ask</a:t>
            </a:r>
            <a:r>
              <a:rPr lang="en-US">
                <a:solidFill>
                  <a:schemeClr val="tx1"/>
                </a:solidFill>
              </a:rPr>
              <a:t>. Deterministic Python functions provide </a:t>
            </a:r>
            <a:r>
              <a:rPr lang="en-US" i="1">
                <a:solidFill>
                  <a:schemeClr val="tx1"/>
                </a:solidFill>
              </a:rPr>
              <a:t>the answers</a:t>
            </a:r>
            <a:r>
              <a:rPr lang="en-US">
                <a:solidFill>
                  <a:schemeClr val="tx1"/>
                </a:solidFill>
              </a:rPr>
              <a:t>. No hallucination. Full audit trail.</a:t>
            </a:r>
          </a:p>
        </p:txBody>
      </p:sp>
      <p:cxnSp>
        <p:nvCxnSpPr>
          <p:cNvPr id="25" name="Straight Arrow Connector 24">
            <a:extLst>
              <a:ext uri="{FF2B5EF4-FFF2-40B4-BE49-F238E27FC236}">
                <a16:creationId xmlns:a16="http://schemas.microsoft.com/office/drawing/2014/main" id="{D573FD2C-EBFC-3C5D-44EA-5D9EF31B222A}"/>
              </a:ext>
            </a:extLst>
          </p:cNvPr>
          <p:cNvCxnSpPr>
            <a:cxnSpLocks/>
            <a:stCxn id="18" idx="2"/>
            <a:endCxn id="19" idx="0"/>
          </p:cNvCxnSpPr>
          <p:nvPr/>
        </p:nvCxnSpPr>
        <p:spPr>
          <a:xfrm flipH="1">
            <a:off x="8818725" y="2355958"/>
            <a:ext cx="3312" cy="375257"/>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BE92238-550A-DE14-697D-51F7F38636C5}"/>
              </a:ext>
            </a:extLst>
          </p:cNvPr>
          <p:cNvCxnSpPr>
            <a:cxnSpLocks/>
            <a:stCxn id="19" idx="2"/>
            <a:endCxn id="22" idx="0"/>
          </p:cNvCxnSpPr>
          <p:nvPr/>
        </p:nvCxnSpPr>
        <p:spPr>
          <a:xfrm>
            <a:off x="8818725" y="5430211"/>
            <a:ext cx="5261" cy="330200"/>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3B2D54EA-B7DF-340E-1C67-11591B5D45DA}"/>
              </a:ext>
            </a:extLst>
          </p:cNvPr>
          <p:cNvPicPr>
            <a:picLocks noChangeAspect="1"/>
          </p:cNvPicPr>
          <p:nvPr/>
        </p:nvPicPr>
        <p:blipFill>
          <a:blip r:embed="rId6"/>
          <a:stretch>
            <a:fillRect/>
          </a:stretch>
        </p:blipFill>
        <p:spPr>
          <a:xfrm>
            <a:off x="6982284" y="2731215"/>
            <a:ext cx="3600678" cy="2698996"/>
          </a:xfrm>
          <a:prstGeom prst="rect">
            <a:avLst/>
          </a:prstGeom>
        </p:spPr>
      </p:pic>
    </p:spTree>
    <p:extLst>
      <p:ext uri="{BB962C8B-B14F-4D97-AF65-F5344CB8AC3E}">
        <p14:creationId xmlns:p14="http://schemas.microsoft.com/office/powerpoint/2010/main" val="328372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205A61-0858-E358-13D9-A59B296816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2C3547-8FF9-E240-9385-B3DE9701A7E6}"/>
              </a:ext>
            </a:extLst>
          </p:cNvPr>
          <p:cNvPicPr>
            <a:picLocks noChangeAspect="1"/>
          </p:cNvPicPr>
          <p:nvPr/>
        </p:nvPicPr>
        <p:blipFill>
          <a:blip r:embed="rId3"/>
          <a:stretch>
            <a:fillRect/>
          </a:stretch>
        </p:blipFill>
        <p:spPr>
          <a:xfrm>
            <a:off x="83618" y="30573"/>
            <a:ext cx="667287" cy="526600"/>
          </a:xfrm>
          <a:prstGeom prst="rect">
            <a:avLst/>
          </a:prstGeom>
        </p:spPr>
      </p:pic>
      <p:cxnSp>
        <p:nvCxnSpPr>
          <p:cNvPr id="7" name="Straight Connector 6">
            <a:extLst>
              <a:ext uri="{FF2B5EF4-FFF2-40B4-BE49-F238E27FC236}">
                <a16:creationId xmlns:a16="http://schemas.microsoft.com/office/drawing/2014/main" id="{7CF3D817-847A-C51E-8EC6-0F276F2A4568}"/>
              </a:ext>
            </a:extLst>
          </p:cNvPr>
          <p:cNvCxnSpPr>
            <a:cxnSpLocks/>
          </p:cNvCxnSpPr>
          <p:nvPr/>
        </p:nvCxnSpPr>
        <p:spPr>
          <a:xfrm>
            <a:off x="0" y="578236"/>
            <a:ext cx="12192000" cy="0"/>
          </a:xfrm>
          <a:prstGeom prst="line">
            <a:avLst/>
          </a:prstGeom>
          <a:ln w="6350"/>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D530349D-DA1C-2B1B-A2CA-0CC63751AFF5}"/>
              </a:ext>
            </a:extLst>
          </p:cNvPr>
          <p:cNvCxnSpPr>
            <a:cxnSpLocks/>
          </p:cNvCxnSpPr>
          <p:nvPr/>
        </p:nvCxnSpPr>
        <p:spPr>
          <a:xfrm>
            <a:off x="816864"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BED4133-BB67-CE11-EC58-A64AF323F8F7}"/>
              </a:ext>
            </a:extLst>
          </p:cNvPr>
          <p:cNvCxnSpPr>
            <a:cxnSpLocks/>
          </p:cNvCxnSpPr>
          <p:nvPr/>
        </p:nvCxnSpPr>
        <p:spPr>
          <a:xfrm>
            <a:off x="8274050"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1F379824-1FAE-0713-A3D0-B2B3D15284C4}"/>
              </a:ext>
            </a:extLst>
          </p:cNvPr>
          <p:cNvPicPr>
            <a:picLocks noChangeAspect="1"/>
          </p:cNvPicPr>
          <p:nvPr/>
        </p:nvPicPr>
        <p:blipFill>
          <a:blip r:embed="rId4"/>
          <a:srcRect r="1510"/>
          <a:stretch>
            <a:fillRect/>
          </a:stretch>
        </p:blipFill>
        <p:spPr>
          <a:xfrm>
            <a:off x="8427504" y="178010"/>
            <a:ext cx="2950899" cy="259666"/>
          </a:xfrm>
          <a:prstGeom prst="rect">
            <a:avLst/>
          </a:prstGeom>
        </p:spPr>
      </p:pic>
      <p:sp>
        <p:nvSpPr>
          <p:cNvPr id="23" name="TextBox 22">
            <a:extLst>
              <a:ext uri="{FF2B5EF4-FFF2-40B4-BE49-F238E27FC236}">
                <a16:creationId xmlns:a16="http://schemas.microsoft.com/office/drawing/2014/main" id="{EDFB3B33-3186-FC6E-A292-33B8CB2EA8A7}"/>
              </a:ext>
            </a:extLst>
          </p:cNvPr>
          <p:cNvSpPr txBox="1"/>
          <p:nvPr/>
        </p:nvSpPr>
        <p:spPr>
          <a:xfrm>
            <a:off x="11337036" y="53071"/>
            <a:ext cx="774613" cy="461665"/>
          </a:xfrm>
          <a:prstGeom prst="rect">
            <a:avLst/>
          </a:prstGeom>
          <a:noFill/>
        </p:spPr>
        <p:txBody>
          <a:bodyPr wrap="square" rtlCol="0">
            <a:spAutoFit/>
          </a:bodyPr>
          <a:lstStyle/>
          <a:p>
            <a:r>
              <a:rPr lang="en-US" sz="2400">
                <a:latin typeface="Calibri" panose="020F0502020204030204" pitchFamily="34" charset="0"/>
                <a:ea typeface="Calibri" panose="020F0502020204030204" pitchFamily="34" charset="0"/>
                <a:cs typeface="Calibri" panose="020F0502020204030204" pitchFamily="34" charset="0"/>
              </a:rPr>
              <a:t>now</a:t>
            </a:r>
          </a:p>
        </p:txBody>
      </p:sp>
      <p:sp>
        <p:nvSpPr>
          <p:cNvPr id="24" name="TextBox 23">
            <a:extLst>
              <a:ext uri="{FF2B5EF4-FFF2-40B4-BE49-F238E27FC236}">
                <a16:creationId xmlns:a16="http://schemas.microsoft.com/office/drawing/2014/main" id="{5D42954A-6D63-0F42-46F4-4E102827EBDE}"/>
              </a:ext>
            </a:extLst>
          </p:cNvPr>
          <p:cNvSpPr txBox="1"/>
          <p:nvPr/>
        </p:nvSpPr>
        <p:spPr>
          <a:xfrm>
            <a:off x="816864" y="0"/>
            <a:ext cx="7457175" cy="584775"/>
          </a:xfrm>
          <a:prstGeom prst="rect">
            <a:avLst/>
          </a:prstGeom>
          <a:solidFill>
            <a:schemeClr val="accent2"/>
          </a:solidFill>
        </p:spPr>
        <p:txBody>
          <a:bodyPr wrap="square" rtlCol="0">
            <a:spAutoFit/>
          </a:bodyPr>
          <a:lstStyle/>
          <a:p>
            <a:pPr algn="ctr"/>
            <a:r>
              <a:rPr lang="en-US" sz="3200">
                <a:solidFill>
                  <a:schemeClr val="bg1"/>
                </a:solidFill>
                <a:latin typeface="Times New Roman" panose="02020603050405020304" pitchFamily="18" charset="0"/>
                <a:cs typeface="Times New Roman" panose="02020603050405020304" pitchFamily="18" charset="0"/>
              </a:rPr>
              <a:t>Diagram Sandbox</a:t>
            </a:r>
          </a:p>
        </p:txBody>
      </p:sp>
      <p:sp>
        <p:nvSpPr>
          <p:cNvPr id="2" name="Rectangle: Rounded Corners 1">
            <a:extLst>
              <a:ext uri="{FF2B5EF4-FFF2-40B4-BE49-F238E27FC236}">
                <a16:creationId xmlns:a16="http://schemas.microsoft.com/office/drawing/2014/main" id="{B071B46F-7699-47AF-241D-B114EB231776}"/>
              </a:ext>
            </a:extLst>
          </p:cNvPr>
          <p:cNvSpPr/>
          <p:nvPr/>
        </p:nvSpPr>
        <p:spPr>
          <a:xfrm>
            <a:off x="728842" y="1630518"/>
            <a:ext cx="2326511" cy="567159"/>
          </a:xfrm>
          <a:prstGeom prst="roundRect">
            <a:avLst/>
          </a:prstGeom>
          <a:solidFill>
            <a:srgbClr val="E1F5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Transfer Optimizer</a:t>
            </a:r>
          </a:p>
        </p:txBody>
      </p:sp>
      <p:sp>
        <p:nvSpPr>
          <p:cNvPr id="3" name="Rectangle: Rounded Corners 2">
            <a:extLst>
              <a:ext uri="{FF2B5EF4-FFF2-40B4-BE49-F238E27FC236}">
                <a16:creationId xmlns:a16="http://schemas.microsoft.com/office/drawing/2014/main" id="{9441BEED-CE77-8397-2A2F-5EE000BB696D}"/>
              </a:ext>
            </a:extLst>
          </p:cNvPr>
          <p:cNvSpPr/>
          <p:nvPr/>
        </p:nvSpPr>
        <p:spPr>
          <a:xfrm>
            <a:off x="728842" y="2597500"/>
            <a:ext cx="2326512" cy="567159"/>
          </a:xfrm>
          <a:prstGeom prst="roundRect">
            <a:avLst/>
          </a:prstGeom>
          <a:solidFill>
            <a:srgbClr val="FAEC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Supply Adjuster</a:t>
            </a:r>
          </a:p>
        </p:txBody>
      </p:sp>
      <p:sp>
        <p:nvSpPr>
          <p:cNvPr id="4" name="Rectangle: Rounded Corners 3">
            <a:extLst>
              <a:ext uri="{FF2B5EF4-FFF2-40B4-BE49-F238E27FC236}">
                <a16:creationId xmlns:a16="http://schemas.microsoft.com/office/drawing/2014/main" id="{15FF49D3-EAAF-725A-6984-05A1BCEA6EBB}"/>
              </a:ext>
            </a:extLst>
          </p:cNvPr>
          <p:cNvSpPr/>
          <p:nvPr/>
        </p:nvSpPr>
        <p:spPr>
          <a:xfrm>
            <a:off x="728842" y="3564482"/>
            <a:ext cx="2326511" cy="567159"/>
          </a:xfrm>
          <a:prstGeom prst="roundRect">
            <a:avLst/>
          </a:prstGeom>
          <a:solidFill>
            <a:srgbClr val="FAEE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Expiry Manager</a:t>
            </a:r>
          </a:p>
        </p:txBody>
      </p:sp>
      <p:sp>
        <p:nvSpPr>
          <p:cNvPr id="6" name="Rectangle: Rounded Corners 5">
            <a:extLst>
              <a:ext uri="{FF2B5EF4-FFF2-40B4-BE49-F238E27FC236}">
                <a16:creationId xmlns:a16="http://schemas.microsoft.com/office/drawing/2014/main" id="{FF025FCE-5DA6-D92B-C271-7C90C055ADC9}"/>
              </a:ext>
            </a:extLst>
          </p:cNvPr>
          <p:cNvSpPr/>
          <p:nvPr/>
        </p:nvSpPr>
        <p:spPr>
          <a:xfrm>
            <a:off x="728843" y="4531464"/>
            <a:ext cx="2326510" cy="567159"/>
          </a:xfrm>
          <a:prstGeom prst="roundRect">
            <a:avLst/>
          </a:prstGeom>
          <a:solidFill>
            <a:srgbClr val="EEED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Simulation Engine</a:t>
            </a:r>
          </a:p>
        </p:txBody>
      </p:sp>
      <p:cxnSp>
        <p:nvCxnSpPr>
          <p:cNvPr id="9" name="Straight Arrow Connector 8">
            <a:extLst>
              <a:ext uri="{FF2B5EF4-FFF2-40B4-BE49-F238E27FC236}">
                <a16:creationId xmlns:a16="http://schemas.microsoft.com/office/drawing/2014/main" id="{C4251D83-A163-6EF9-18F6-F361D68F4D6D}"/>
              </a:ext>
            </a:extLst>
          </p:cNvPr>
          <p:cNvCxnSpPr>
            <a:cxnSpLocks/>
            <a:stCxn id="2" idx="2"/>
            <a:endCxn id="3" idx="0"/>
          </p:cNvCxnSpPr>
          <p:nvPr/>
        </p:nvCxnSpPr>
        <p:spPr>
          <a:xfrm>
            <a:off x="1892098" y="2197677"/>
            <a:ext cx="0" cy="399823"/>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C16362F-8ECF-17EF-578B-1E786750D3A7}"/>
              </a:ext>
            </a:extLst>
          </p:cNvPr>
          <p:cNvCxnSpPr>
            <a:stCxn id="3" idx="2"/>
            <a:endCxn id="4" idx="0"/>
          </p:cNvCxnSpPr>
          <p:nvPr/>
        </p:nvCxnSpPr>
        <p:spPr>
          <a:xfrm>
            <a:off x="1892098" y="3164659"/>
            <a:ext cx="0" cy="399823"/>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BFC0F38-AA74-E88C-A2D9-C28A7B520549}"/>
              </a:ext>
            </a:extLst>
          </p:cNvPr>
          <p:cNvCxnSpPr>
            <a:stCxn id="4" idx="2"/>
            <a:endCxn id="6" idx="0"/>
          </p:cNvCxnSpPr>
          <p:nvPr/>
        </p:nvCxnSpPr>
        <p:spPr>
          <a:xfrm>
            <a:off x="1892098" y="4131641"/>
            <a:ext cx="0" cy="399823"/>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7A392AF-E930-BDA6-22BE-8F18611AEA44}"/>
              </a:ext>
            </a:extLst>
          </p:cNvPr>
          <p:cNvSpPr txBox="1"/>
          <p:nvPr/>
        </p:nvSpPr>
        <p:spPr>
          <a:xfrm>
            <a:off x="1892098" y="2269153"/>
            <a:ext cx="2546430" cy="338554"/>
          </a:xfrm>
          <a:prstGeom prst="rect">
            <a:avLst/>
          </a:prstGeom>
          <a:noFill/>
        </p:spPr>
        <p:txBody>
          <a:bodyPr wrap="square" rtlCol="0">
            <a:spAutoFit/>
          </a:bodyPr>
          <a:lstStyle/>
          <a:p>
            <a:r>
              <a:rPr lang="en-US" sz="1600" b="1" i="1">
                <a:solidFill>
                  <a:schemeClr val="accent1"/>
                </a:solidFill>
              </a:rPr>
              <a:t>Checks transfer plan</a:t>
            </a:r>
          </a:p>
        </p:txBody>
      </p:sp>
      <p:sp>
        <p:nvSpPr>
          <p:cNvPr id="18" name="TextBox 17">
            <a:extLst>
              <a:ext uri="{FF2B5EF4-FFF2-40B4-BE49-F238E27FC236}">
                <a16:creationId xmlns:a16="http://schemas.microsoft.com/office/drawing/2014/main" id="{49FC9DA1-C12E-C6AD-83F9-6B978C409690}"/>
              </a:ext>
            </a:extLst>
          </p:cNvPr>
          <p:cNvSpPr txBox="1"/>
          <p:nvPr/>
        </p:nvSpPr>
        <p:spPr>
          <a:xfrm>
            <a:off x="1892098" y="3276676"/>
            <a:ext cx="2546430" cy="338554"/>
          </a:xfrm>
          <a:prstGeom prst="rect">
            <a:avLst/>
          </a:prstGeom>
          <a:noFill/>
        </p:spPr>
        <p:txBody>
          <a:bodyPr wrap="square" rtlCol="0">
            <a:spAutoFit/>
          </a:bodyPr>
          <a:lstStyle/>
          <a:p>
            <a:r>
              <a:rPr lang="en-US" sz="1600" b="1" i="1">
                <a:solidFill>
                  <a:schemeClr val="accent1"/>
                </a:solidFill>
              </a:rPr>
              <a:t>Checks both plans</a:t>
            </a:r>
          </a:p>
        </p:txBody>
      </p:sp>
      <p:sp>
        <p:nvSpPr>
          <p:cNvPr id="19" name="TextBox 18">
            <a:extLst>
              <a:ext uri="{FF2B5EF4-FFF2-40B4-BE49-F238E27FC236}">
                <a16:creationId xmlns:a16="http://schemas.microsoft.com/office/drawing/2014/main" id="{C7AF7121-8C22-3BF0-1F86-C0B9535E0F1D}"/>
              </a:ext>
            </a:extLst>
          </p:cNvPr>
          <p:cNvSpPr txBox="1"/>
          <p:nvPr/>
        </p:nvSpPr>
        <p:spPr>
          <a:xfrm>
            <a:off x="1892098" y="4284199"/>
            <a:ext cx="2546430" cy="338554"/>
          </a:xfrm>
          <a:prstGeom prst="rect">
            <a:avLst/>
          </a:prstGeom>
          <a:noFill/>
        </p:spPr>
        <p:txBody>
          <a:bodyPr wrap="square" rtlCol="0">
            <a:spAutoFit/>
          </a:bodyPr>
          <a:lstStyle/>
          <a:p>
            <a:r>
              <a:rPr lang="en-US" sz="1600" b="1" i="1">
                <a:solidFill>
                  <a:schemeClr val="accent1"/>
                </a:solidFill>
              </a:rPr>
              <a:t>Validates everything</a:t>
            </a:r>
          </a:p>
        </p:txBody>
      </p:sp>
      <p:sp>
        <p:nvSpPr>
          <p:cNvPr id="22" name="Rectangle: Rounded Corners 21">
            <a:extLst>
              <a:ext uri="{FF2B5EF4-FFF2-40B4-BE49-F238E27FC236}">
                <a16:creationId xmlns:a16="http://schemas.microsoft.com/office/drawing/2014/main" id="{7EA63BDD-1338-C1D9-ACB4-A13567E6BC05}"/>
              </a:ext>
            </a:extLst>
          </p:cNvPr>
          <p:cNvSpPr/>
          <p:nvPr/>
        </p:nvSpPr>
        <p:spPr>
          <a:xfrm>
            <a:off x="3385229" y="2638041"/>
            <a:ext cx="2326512" cy="567159"/>
          </a:xfrm>
          <a:prstGeom prst="roundRect">
            <a:avLst/>
          </a:prstGeom>
          <a:solidFill>
            <a:srgbClr val="FAEC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 double solving</a:t>
            </a:r>
          </a:p>
        </p:txBody>
      </p:sp>
      <p:sp>
        <p:nvSpPr>
          <p:cNvPr id="25" name="Rectangle: Rounded Corners 24">
            <a:extLst>
              <a:ext uri="{FF2B5EF4-FFF2-40B4-BE49-F238E27FC236}">
                <a16:creationId xmlns:a16="http://schemas.microsoft.com/office/drawing/2014/main" id="{ACCB8EF6-5B17-EF43-5349-8AFB1868B23B}"/>
              </a:ext>
            </a:extLst>
          </p:cNvPr>
          <p:cNvSpPr/>
          <p:nvPr/>
        </p:nvSpPr>
        <p:spPr>
          <a:xfrm>
            <a:off x="3385229" y="3593367"/>
            <a:ext cx="2326512" cy="567159"/>
          </a:xfrm>
          <a:prstGeom prst="roundRect">
            <a:avLst/>
          </a:prstGeom>
          <a:solidFill>
            <a:srgbClr val="FAEE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Cold Chain +Expiry Respected</a:t>
            </a:r>
          </a:p>
        </p:txBody>
      </p:sp>
      <p:sp>
        <p:nvSpPr>
          <p:cNvPr id="26" name="Rectangle: Rounded Corners 25">
            <a:extLst>
              <a:ext uri="{FF2B5EF4-FFF2-40B4-BE49-F238E27FC236}">
                <a16:creationId xmlns:a16="http://schemas.microsoft.com/office/drawing/2014/main" id="{49EFDA61-54A2-508C-37CD-12D112F6483A}"/>
              </a:ext>
            </a:extLst>
          </p:cNvPr>
          <p:cNvSpPr/>
          <p:nvPr/>
        </p:nvSpPr>
        <p:spPr>
          <a:xfrm>
            <a:off x="3385229" y="4548693"/>
            <a:ext cx="2326512" cy="567159"/>
          </a:xfrm>
          <a:prstGeom prst="roundRect">
            <a:avLst/>
          </a:prstGeom>
          <a:solidFill>
            <a:srgbClr val="EEED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Before vs After Proof</a:t>
            </a:r>
          </a:p>
        </p:txBody>
      </p:sp>
      <p:sp>
        <p:nvSpPr>
          <p:cNvPr id="27" name="Rectangle: Rounded Corners 26">
            <a:extLst>
              <a:ext uri="{FF2B5EF4-FFF2-40B4-BE49-F238E27FC236}">
                <a16:creationId xmlns:a16="http://schemas.microsoft.com/office/drawing/2014/main" id="{98C0AC22-D553-A0CA-AE19-FD973826A4CC}"/>
              </a:ext>
            </a:extLst>
          </p:cNvPr>
          <p:cNvSpPr/>
          <p:nvPr/>
        </p:nvSpPr>
        <p:spPr>
          <a:xfrm>
            <a:off x="593692" y="1484698"/>
            <a:ext cx="5390147" cy="3888603"/>
          </a:xfrm>
          <a:prstGeom prst="roundRect">
            <a:avLst>
              <a:gd name="adj" fmla="val 354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90DA282-A4A7-0A1F-0F90-6638B0BEAFF9}"/>
              </a:ext>
            </a:extLst>
          </p:cNvPr>
          <p:cNvSpPr txBox="1"/>
          <p:nvPr/>
        </p:nvSpPr>
        <p:spPr>
          <a:xfrm>
            <a:off x="3824092" y="1651209"/>
            <a:ext cx="2050181" cy="369332"/>
          </a:xfrm>
          <a:prstGeom prst="rect">
            <a:avLst/>
          </a:prstGeom>
          <a:noFill/>
        </p:spPr>
        <p:txBody>
          <a:bodyPr wrap="square" rtlCol="0">
            <a:spAutoFit/>
          </a:bodyPr>
          <a:lstStyle/>
          <a:p>
            <a:r>
              <a:rPr lang="en-US" b="1"/>
              <a:t>ORCHESTRATOR</a:t>
            </a:r>
          </a:p>
        </p:txBody>
      </p:sp>
    </p:spTree>
    <p:extLst>
      <p:ext uri="{BB962C8B-B14F-4D97-AF65-F5344CB8AC3E}">
        <p14:creationId xmlns:p14="http://schemas.microsoft.com/office/powerpoint/2010/main" val="2093163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43CC64-6537-A1E1-39EC-158A710E5AF8}"/>
            </a:ext>
          </a:extLst>
        </p:cNvPr>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2B1F773A-7934-0FCB-9BE5-5510B397EEF7}"/>
              </a:ext>
            </a:extLst>
          </p:cNvPr>
          <p:cNvSpPr/>
          <p:nvPr/>
        </p:nvSpPr>
        <p:spPr>
          <a:xfrm>
            <a:off x="457200" y="760373"/>
            <a:ext cx="11417300" cy="1305996"/>
          </a:xfrm>
          <a:prstGeom prst="roundRect">
            <a:avLst/>
          </a:prstGeom>
          <a:solidFill>
            <a:schemeClr val="tx2">
              <a:lumMod val="10000"/>
              <a:lumOff val="9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691A87B-DB9A-4447-1CCB-12F3ED41FE4B}"/>
              </a:ext>
            </a:extLst>
          </p:cNvPr>
          <p:cNvPicPr>
            <a:picLocks noChangeAspect="1"/>
          </p:cNvPicPr>
          <p:nvPr/>
        </p:nvPicPr>
        <p:blipFill>
          <a:blip r:embed="rId3"/>
          <a:stretch>
            <a:fillRect/>
          </a:stretch>
        </p:blipFill>
        <p:spPr>
          <a:xfrm>
            <a:off x="83618" y="30573"/>
            <a:ext cx="667287" cy="526600"/>
          </a:xfrm>
          <a:prstGeom prst="rect">
            <a:avLst/>
          </a:prstGeom>
        </p:spPr>
      </p:pic>
      <p:cxnSp>
        <p:nvCxnSpPr>
          <p:cNvPr id="7" name="Straight Connector 6">
            <a:extLst>
              <a:ext uri="{FF2B5EF4-FFF2-40B4-BE49-F238E27FC236}">
                <a16:creationId xmlns:a16="http://schemas.microsoft.com/office/drawing/2014/main" id="{5D22D002-03A6-9EEF-E2BC-5B23BE8E994E}"/>
              </a:ext>
            </a:extLst>
          </p:cNvPr>
          <p:cNvCxnSpPr>
            <a:cxnSpLocks/>
          </p:cNvCxnSpPr>
          <p:nvPr/>
        </p:nvCxnSpPr>
        <p:spPr>
          <a:xfrm>
            <a:off x="0" y="578236"/>
            <a:ext cx="12192000" cy="0"/>
          </a:xfrm>
          <a:prstGeom prst="line">
            <a:avLst/>
          </a:prstGeom>
          <a:ln w="6350"/>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90AB45C0-EAF0-5B77-000A-B30DE9012A5C}"/>
              </a:ext>
            </a:extLst>
          </p:cNvPr>
          <p:cNvCxnSpPr>
            <a:cxnSpLocks/>
          </p:cNvCxnSpPr>
          <p:nvPr/>
        </p:nvCxnSpPr>
        <p:spPr>
          <a:xfrm>
            <a:off x="816864"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87827CD-6DDD-F645-7315-44D77177541B}"/>
              </a:ext>
            </a:extLst>
          </p:cNvPr>
          <p:cNvCxnSpPr>
            <a:cxnSpLocks/>
          </p:cNvCxnSpPr>
          <p:nvPr/>
        </p:nvCxnSpPr>
        <p:spPr>
          <a:xfrm>
            <a:off x="8274050" y="0"/>
            <a:ext cx="0" cy="57823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A4D2BD39-83EE-42F2-0B8F-45ADFF58BDEE}"/>
              </a:ext>
            </a:extLst>
          </p:cNvPr>
          <p:cNvPicPr>
            <a:picLocks noChangeAspect="1"/>
          </p:cNvPicPr>
          <p:nvPr/>
        </p:nvPicPr>
        <p:blipFill>
          <a:blip r:embed="rId4"/>
          <a:srcRect r="1510"/>
          <a:stretch>
            <a:fillRect/>
          </a:stretch>
        </p:blipFill>
        <p:spPr>
          <a:xfrm>
            <a:off x="8427504" y="178010"/>
            <a:ext cx="2950899" cy="259666"/>
          </a:xfrm>
          <a:prstGeom prst="rect">
            <a:avLst/>
          </a:prstGeom>
        </p:spPr>
      </p:pic>
      <p:sp>
        <p:nvSpPr>
          <p:cNvPr id="23" name="TextBox 22">
            <a:extLst>
              <a:ext uri="{FF2B5EF4-FFF2-40B4-BE49-F238E27FC236}">
                <a16:creationId xmlns:a16="http://schemas.microsoft.com/office/drawing/2014/main" id="{DFF8A9DF-9B3D-16C6-2459-777683302B6B}"/>
              </a:ext>
            </a:extLst>
          </p:cNvPr>
          <p:cNvSpPr txBox="1"/>
          <p:nvPr/>
        </p:nvSpPr>
        <p:spPr>
          <a:xfrm>
            <a:off x="11337036" y="53071"/>
            <a:ext cx="774613" cy="461665"/>
          </a:xfrm>
          <a:prstGeom prst="rect">
            <a:avLst/>
          </a:prstGeom>
          <a:noFill/>
        </p:spPr>
        <p:txBody>
          <a:bodyPr wrap="square" rtlCol="0">
            <a:spAutoFit/>
          </a:bodyPr>
          <a:lstStyle/>
          <a:p>
            <a:r>
              <a:rPr lang="en-US" sz="2400">
                <a:latin typeface="Calibri" panose="020F0502020204030204" pitchFamily="34" charset="0"/>
                <a:ea typeface="Calibri" panose="020F0502020204030204" pitchFamily="34" charset="0"/>
                <a:cs typeface="Calibri" panose="020F0502020204030204" pitchFamily="34" charset="0"/>
              </a:rPr>
              <a:t>now</a:t>
            </a:r>
          </a:p>
        </p:txBody>
      </p:sp>
      <p:sp>
        <p:nvSpPr>
          <p:cNvPr id="24" name="TextBox 23">
            <a:extLst>
              <a:ext uri="{FF2B5EF4-FFF2-40B4-BE49-F238E27FC236}">
                <a16:creationId xmlns:a16="http://schemas.microsoft.com/office/drawing/2014/main" id="{8FD91175-C75F-E658-5C5F-5AC37A2B0CF1}"/>
              </a:ext>
            </a:extLst>
          </p:cNvPr>
          <p:cNvSpPr txBox="1"/>
          <p:nvPr/>
        </p:nvSpPr>
        <p:spPr>
          <a:xfrm>
            <a:off x="816864" y="0"/>
            <a:ext cx="7457175" cy="584775"/>
          </a:xfrm>
          <a:prstGeom prst="rect">
            <a:avLst/>
          </a:prstGeom>
          <a:solidFill>
            <a:schemeClr val="accent2"/>
          </a:solidFill>
        </p:spPr>
        <p:txBody>
          <a:bodyPr wrap="square" rtlCol="0">
            <a:spAutoFit/>
          </a:bodyPr>
          <a:lstStyle/>
          <a:p>
            <a:pPr algn="ctr"/>
            <a:r>
              <a:rPr lang="en-US" sz="3200">
                <a:solidFill>
                  <a:schemeClr val="bg1"/>
                </a:solidFill>
                <a:latin typeface="Times New Roman" panose="02020603050405020304" pitchFamily="18" charset="0"/>
                <a:cs typeface="Times New Roman" panose="02020603050405020304" pitchFamily="18" charset="0"/>
              </a:rPr>
              <a:t>Diagram Sandbox</a:t>
            </a:r>
          </a:p>
        </p:txBody>
      </p:sp>
      <p:sp>
        <p:nvSpPr>
          <p:cNvPr id="33" name="Rectangle: Rounded Corners 32">
            <a:extLst>
              <a:ext uri="{FF2B5EF4-FFF2-40B4-BE49-F238E27FC236}">
                <a16:creationId xmlns:a16="http://schemas.microsoft.com/office/drawing/2014/main" id="{6326D4F4-3BDC-4994-54EF-048C67CA115F}"/>
              </a:ext>
            </a:extLst>
          </p:cNvPr>
          <p:cNvSpPr/>
          <p:nvPr/>
        </p:nvSpPr>
        <p:spPr>
          <a:xfrm>
            <a:off x="750905" y="1241014"/>
            <a:ext cx="2326511" cy="567159"/>
          </a:xfrm>
          <a:prstGeom prst="roundRect">
            <a:avLst/>
          </a:prstGeom>
          <a:solidFill>
            <a:srgbClr val="E1F5EE"/>
          </a:solidFill>
          <a:ln>
            <a:solidFill>
              <a:srgbClr val="A8A7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Excess Map</a:t>
            </a:r>
          </a:p>
        </p:txBody>
      </p:sp>
      <p:sp>
        <p:nvSpPr>
          <p:cNvPr id="34" name="Rectangle: Rounded Corners 33">
            <a:extLst>
              <a:ext uri="{FF2B5EF4-FFF2-40B4-BE49-F238E27FC236}">
                <a16:creationId xmlns:a16="http://schemas.microsoft.com/office/drawing/2014/main" id="{26B685AE-5477-AD89-C427-24C40A1240AD}"/>
              </a:ext>
            </a:extLst>
          </p:cNvPr>
          <p:cNvSpPr/>
          <p:nvPr/>
        </p:nvSpPr>
        <p:spPr>
          <a:xfrm>
            <a:off x="3769488" y="1247060"/>
            <a:ext cx="2326512" cy="567159"/>
          </a:xfrm>
          <a:prstGeom prst="roundRect">
            <a:avLst/>
          </a:prstGeom>
          <a:solidFill>
            <a:srgbClr val="FAECE7"/>
          </a:solidFill>
          <a:ln>
            <a:solidFill>
              <a:srgbClr val="A8A7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Shortage Map</a:t>
            </a:r>
          </a:p>
        </p:txBody>
      </p:sp>
      <p:sp>
        <p:nvSpPr>
          <p:cNvPr id="35" name="Rectangle: Rounded Corners 34">
            <a:extLst>
              <a:ext uri="{FF2B5EF4-FFF2-40B4-BE49-F238E27FC236}">
                <a16:creationId xmlns:a16="http://schemas.microsoft.com/office/drawing/2014/main" id="{667224D5-B8F8-52ED-9CD0-E301559B7A9A}"/>
              </a:ext>
            </a:extLst>
          </p:cNvPr>
          <p:cNvSpPr/>
          <p:nvPr/>
        </p:nvSpPr>
        <p:spPr>
          <a:xfrm>
            <a:off x="6536991" y="1233032"/>
            <a:ext cx="2326512" cy="567159"/>
          </a:xfrm>
          <a:prstGeom prst="roundRect">
            <a:avLst/>
          </a:prstGeom>
          <a:solidFill>
            <a:srgbClr val="F1EFE8"/>
          </a:solidFill>
          <a:ln>
            <a:solidFill>
              <a:srgbClr val="A8A7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Transport Lanes</a:t>
            </a:r>
          </a:p>
        </p:txBody>
      </p:sp>
      <p:sp>
        <p:nvSpPr>
          <p:cNvPr id="36" name="Rectangle: Rounded Corners 35">
            <a:extLst>
              <a:ext uri="{FF2B5EF4-FFF2-40B4-BE49-F238E27FC236}">
                <a16:creationId xmlns:a16="http://schemas.microsoft.com/office/drawing/2014/main" id="{820DD7FE-CFC5-F2AD-BDCE-D797370DBE49}"/>
              </a:ext>
            </a:extLst>
          </p:cNvPr>
          <p:cNvSpPr/>
          <p:nvPr/>
        </p:nvSpPr>
        <p:spPr>
          <a:xfrm>
            <a:off x="9302366" y="1255839"/>
            <a:ext cx="2326512" cy="567159"/>
          </a:xfrm>
          <a:prstGeom prst="roundRect">
            <a:avLst/>
          </a:prstGeom>
          <a:solidFill>
            <a:srgbClr val="F1EFE8"/>
          </a:solidFill>
          <a:ln>
            <a:solidFill>
              <a:srgbClr val="A8A7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Batch Inventory</a:t>
            </a:r>
          </a:p>
        </p:txBody>
      </p:sp>
      <p:grpSp>
        <p:nvGrpSpPr>
          <p:cNvPr id="45" name="Group 44">
            <a:extLst>
              <a:ext uri="{FF2B5EF4-FFF2-40B4-BE49-F238E27FC236}">
                <a16:creationId xmlns:a16="http://schemas.microsoft.com/office/drawing/2014/main" id="{B66E01C2-6494-264F-9112-4B7BC087C223}"/>
              </a:ext>
            </a:extLst>
          </p:cNvPr>
          <p:cNvGrpSpPr/>
          <p:nvPr/>
        </p:nvGrpSpPr>
        <p:grpSpPr>
          <a:xfrm>
            <a:off x="1006810" y="825232"/>
            <a:ext cx="9270615" cy="2979947"/>
            <a:chOff x="1195007" y="637744"/>
            <a:chExt cx="9270615" cy="3019853"/>
          </a:xfrm>
        </p:grpSpPr>
        <p:grpSp>
          <p:nvGrpSpPr>
            <p:cNvPr id="42" name="Group 41">
              <a:extLst>
                <a:ext uri="{FF2B5EF4-FFF2-40B4-BE49-F238E27FC236}">
                  <a16:creationId xmlns:a16="http://schemas.microsoft.com/office/drawing/2014/main" id="{135611D3-570F-2E09-BEA6-F0F54ADB7517}"/>
                </a:ext>
              </a:extLst>
            </p:cNvPr>
            <p:cNvGrpSpPr/>
            <p:nvPr/>
          </p:nvGrpSpPr>
          <p:grpSpPr>
            <a:xfrm>
              <a:off x="2105680" y="2385604"/>
              <a:ext cx="8359942" cy="1271993"/>
              <a:chOff x="2095500" y="2146300"/>
              <a:chExt cx="8359942" cy="1282696"/>
            </a:xfrm>
          </p:grpSpPr>
          <p:sp>
            <p:nvSpPr>
              <p:cNvPr id="37" name="Rectangle: Rounded Corners 36">
                <a:extLst>
                  <a:ext uri="{FF2B5EF4-FFF2-40B4-BE49-F238E27FC236}">
                    <a16:creationId xmlns:a16="http://schemas.microsoft.com/office/drawing/2014/main" id="{8322CAE2-80C1-7AF4-1588-CD24F6D39166}"/>
                  </a:ext>
                </a:extLst>
              </p:cNvPr>
              <p:cNvSpPr/>
              <p:nvPr/>
            </p:nvSpPr>
            <p:spPr>
              <a:xfrm>
                <a:off x="2095500" y="2146300"/>
                <a:ext cx="8359942" cy="1282696"/>
              </a:xfrm>
              <a:prstGeom prst="roundRect">
                <a:avLst>
                  <a:gd name="adj" fmla="val 7662"/>
                </a:avLst>
              </a:prstGeom>
              <a:solidFill>
                <a:srgbClr val="EEEDFE"/>
              </a:solidFill>
              <a:ln>
                <a:solidFill>
                  <a:srgbClr val="D3D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10F91075-C92E-180B-0E99-8BFE3F277FF6}"/>
                  </a:ext>
                </a:extLst>
              </p:cNvPr>
              <p:cNvSpPr/>
              <p:nvPr/>
            </p:nvSpPr>
            <p:spPr>
              <a:xfrm>
                <a:off x="2476808" y="2631316"/>
                <a:ext cx="2326512" cy="567159"/>
              </a:xfrm>
              <a:prstGeom prst="roundRect">
                <a:avLst/>
              </a:prstGeom>
              <a:solidFill>
                <a:srgbClr val="F1EFE8"/>
              </a:solidFill>
              <a:ln>
                <a:solidFill>
                  <a:srgbClr val="A8A7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Transfer Cost</a:t>
                </a:r>
              </a:p>
            </p:txBody>
          </p:sp>
          <p:sp>
            <p:nvSpPr>
              <p:cNvPr id="13" name="Rectangle: Rounded Corners 12">
                <a:extLst>
                  <a:ext uri="{FF2B5EF4-FFF2-40B4-BE49-F238E27FC236}">
                    <a16:creationId xmlns:a16="http://schemas.microsoft.com/office/drawing/2014/main" id="{73B8471B-88CD-1E4E-405C-CC1F1F0D0C96}"/>
                  </a:ext>
                </a:extLst>
              </p:cNvPr>
              <p:cNvSpPr/>
              <p:nvPr/>
            </p:nvSpPr>
            <p:spPr>
              <a:xfrm>
                <a:off x="5098613" y="2646894"/>
                <a:ext cx="2326512" cy="567159"/>
              </a:xfrm>
              <a:prstGeom prst="roundRect">
                <a:avLst/>
              </a:prstGeom>
              <a:solidFill>
                <a:srgbClr val="F1EFE8"/>
              </a:solidFill>
              <a:ln>
                <a:solidFill>
                  <a:srgbClr val="A8A7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CO2 Emissions</a:t>
                </a:r>
              </a:p>
            </p:txBody>
          </p:sp>
          <p:sp>
            <p:nvSpPr>
              <p:cNvPr id="15" name="Rectangle: Rounded Corners 14">
                <a:extLst>
                  <a:ext uri="{FF2B5EF4-FFF2-40B4-BE49-F238E27FC236}">
                    <a16:creationId xmlns:a16="http://schemas.microsoft.com/office/drawing/2014/main" id="{FDF6A002-38F5-BD7E-BCC2-EAC62820E623}"/>
                  </a:ext>
                </a:extLst>
              </p:cNvPr>
              <p:cNvSpPr/>
              <p:nvPr/>
            </p:nvSpPr>
            <p:spPr>
              <a:xfrm>
                <a:off x="7720418" y="2621280"/>
                <a:ext cx="2326512" cy="567159"/>
              </a:xfrm>
              <a:prstGeom prst="roundRect">
                <a:avLst/>
              </a:prstGeom>
              <a:solidFill>
                <a:srgbClr val="FCEBEB"/>
              </a:solidFill>
              <a:ln>
                <a:solidFill>
                  <a:srgbClr val="CE93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Unmet Demand Penalty</a:t>
                </a:r>
              </a:p>
            </p:txBody>
          </p:sp>
        </p:grpSp>
        <p:sp>
          <p:nvSpPr>
            <p:cNvPr id="43" name="TextBox 42">
              <a:extLst>
                <a:ext uri="{FF2B5EF4-FFF2-40B4-BE49-F238E27FC236}">
                  <a16:creationId xmlns:a16="http://schemas.microsoft.com/office/drawing/2014/main" id="{DEEDA2B8-7E5C-D234-F414-10F437EE30DB}"/>
                </a:ext>
              </a:extLst>
            </p:cNvPr>
            <p:cNvSpPr txBox="1"/>
            <p:nvPr/>
          </p:nvSpPr>
          <p:spPr>
            <a:xfrm>
              <a:off x="2486988" y="2385604"/>
              <a:ext cx="3443912" cy="369332"/>
            </a:xfrm>
            <a:prstGeom prst="rect">
              <a:avLst/>
            </a:prstGeom>
            <a:noFill/>
          </p:spPr>
          <p:txBody>
            <a:bodyPr wrap="square" rtlCol="0">
              <a:spAutoFit/>
            </a:bodyPr>
            <a:lstStyle/>
            <a:p>
              <a:r>
                <a:rPr lang="en-US" b="1"/>
                <a:t>Objective Function</a:t>
              </a:r>
            </a:p>
          </p:txBody>
        </p:sp>
        <p:sp>
          <p:nvSpPr>
            <p:cNvPr id="60" name="TextBox 59">
              <a:extLst>
                <a:ext uri="{FF2B5EF4-FFF2-40B4-BE49-F238E27FC236}">
                  <a16:creationId xmlns:a16="http://schemas.microsoft.com/office/drawing/2014/main" id="{501BB914-E214-F5FF-6FED-7CCE3B64BF6E}"/>
                </a:ext>
              </a:extLst>
            </p:cNvPr>
            <p:cNvSpPr txBox="1"/>
            <p:nvPr/>
          </p:nvSpPr>
          <p:spPr>
            <a:xfrm>
              <a:off x="1195007" y="637744"/>
              <a:ext cx="3443912" cy="374278"/>
            </a:xfrm>
            <a:prstGeom prst="rect">
              <a:avLst/>
            </a:prstGeom>
            <a:noFill/>
          </p:spPr>
          <p:txBody>
            <a:bodyPr wrap="square" rtlCol="0">
              <a:spAutoFit/>
            </a:bodyPr>
            <a:lstStyle/>
            <a:p>
              <a:r>
                <a:rPr lang="en-US" b="1"/>
                <a:t>Input Variables</a:t>
              </a:r>
            </a:p>
          </p:txBody>
        </p:sp>
      </p:grpSp>
      <p:grpSp>
        <p:nvGrpSpPr>
          <p:cNvPr id="46" name="Group 45">
            <a:extLst>
              <a:ext uri="{FF2B5EF4-FFF2-40B4-BE49-F238E27FC236}">
                <a16:creationId xmlns:a16="http://schemas.microsoft.com/office/drawing/2014/main" id="{4740A41A-CE93-B4AA-F993-81DF7C0733F8}"/>
              </a:ext>
            </a:extLst>
          </p:cNvPr>
          <p:cNvGrpSpPr/>
          <p:nvPr/>
        </p:nvGrpSpPr>
        <p:grpSpPr>
          <a:xfrm>
            <a:off x="1914576" y="4146009"/>
            <a:ext cx="4622416" cy="2419433"/>
            <a:chOff x="3166317" y="4260557"/>
            <a:chExt cx="5026588" cy="2419433"/>
          </a:xfrm>
        </p:grpSpPr>
        <p:grpSp>
          <p:nvGrpSpPr>
            <p:cNvPr id="41" name="Group 40">
              <a:extLst>
                <a:ext uri="{FF2B5EF4-FFF2-40B4-BE49-F238E27FC236}">
                  <a16:creationId xmlns:a16="http://schemas.microsoft.com/office/drawing/2014/main" id="{CEEB1925-5413-3F78-E6FE-900E38A9D631}"/>
                </a:ext>
              </a:extLst>
            </p:cNvPr>
            <p:cNvGrpSpPr/>
            <p:nvPr/>
          </p:nvGrpSpPr>
          <p:grpSpPr>
            <a:xfrm>
              <a:off x="3166317" y="4260557"/>
              <a:ext cx="5026588" cy="2419433"/>
              <a:chOff x="3077417" y="3867820"/>
              <a:chExt cx="5890712" cy="2019207"/>
            </a:xfrm>
          </p:grpSpPr>
          <p:sp>
            <p:nvSpPr>
              <p:cNvPr id="40" name="Rectangle: Rounded Corners 39">
                <a:extLst>
                  <a:ext uri="{FF2B5EF4-FFF2-40B4-BE49-F238E27FC236}">
                    <a16:creationId xmlns:a16="http://schemas.microsoft.com/office/drawing/2014/main" id="{6090DFF4-7CFF-AB26-BE96-3A8C1EBCF5FD}"/>
                  </a:ext>
                </a:extLst>
              </p:cNvPr>
              <p:cNvSpPr/>
              <p:nvPr/>
            </p:nvSpPr>
            <p:spPr>
              <a:xfrm>
                <a:off x="3077417" y="3867820"/>
                <a:ext cx="5890712" cy="2019207"/>
              </a:xfrm>
              <a:prstGeom prst="roundRect">
                <a:avLst>
                  <a:gd name="adj" fmla="val 4750"/>
                </a:avLst>
              </a:prstGeom>
              <a:solidFill>
                <a:srgbClr val="E1F5EE"/>
              </a:solidFill>
              <a:ln>
                <a:solidFill>
                  <a:srgbClr val="79B1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0D3CB99A-CA38-D44C-C92C-C3D9D33C599A}"/>
                  </a:ext>
                </a:extLst>
              </p:cNvPr>
              <p:cNvSpPr/>
              <p:nvPr/>
            </p:nvSpPr>
            <p:spPr>
              <a:xfrm>
                <a:off x="3515488" y="4372272"/>
                <a:ext cx="2326512" cy="567159"/>
              </a:xfrm>
              <a:prstGeom prst="roundRect">
                <a:avLst/>
              </a:prstGeom>
              <a:solidFill>
                <a:srgbClr val="F1EFE8"/>
              </a:solidFill>
              <a:ln>
                <a:solidFill>
                  <a:srgbClr val="ADB5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Cold Chain Compatibility</a:t>
                </a:r>
              </a:p>
            </p:txBody>
          </p:sp>
          <p:sp>
            <p:nvSpPr>
              <p:cNvPr id="30" name="Rectangle: Rounded Corners 29">
                <a:extLst>
                  <a:ext uri="{FF2B5EF4-FFF2-40B4-BE49-F238E27FC236}">
                    <a16:creationId xmlns:a16="http://schemas.microsoft.com/office/drawing/2014/main" id="{79848183-392C-DAC4-91A2-A9C87D84C533}"/>
                  </a:ext>
                </a:extLst>
              </p:cNvPr>
              <p:cNvSpPr/>
              <p:nvPr/>
            </p:nvSpPr>
            <p:spPr>
              <a:xfrm>
                <a:off x="6444582" y="4367581"/>
                <a:ext cx="2326512" cy="567159"/>
              </a:xfrm>
              <a:prstGeom prst="roundRect">
                <a:avLst/>
              </a:prstGeom>
              <a:solidFill>
                <a:srgbClr val="F1EFE8"/>
              </a:solidFill>
              <a:ln>
                <a:solidFill>
                  <a:srgbClr val="ADB5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Released Items and MOQ</a:t>
                </a:r>
              </a:p>
            </p:txBody>
          </p:sp>
          <p:sp>
            <p:nvSpPr>
              <p:cNvPr id="31" name="Rectangle: Rounded Corners 30">
                <a:extLst>
                  <a:ext uri="{FF2B5EF4-FFF2-40B4-BE49-F238E27FC236}">
                    <a16:creationId xmlns:a16="http://schemas.microsoft.com/office/drawing/2014/main" id="{37DEAF84-6A73-3EB4-4E27-4147E477964E}"/>
                  </a:ext>
                </a:extLst>
              </p:cNvPr>
              <p:cNvSpPr/>
              <p:nvPr/>
            </p:nvSpPr>
            <p:spPr>
              <a:xfrm>
                <a:off x="3561344" y="5113224"/>
                <a:ext cx="2326512" cy="567159"/>
              </a:xfrm>
              <a:prstGeom prst="roundRect">
                <a:avLst/>
              </a:prstGeom>
              <a:solidFill>
                <a:srgbClr val="F1EFE8"/>
              </a:solidFill>
              <a:ln>
                <a:solidFill>
                  <a:srgbClr val="ADB5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FEFO Batch Sorting</a:t>
                </a:r>
              </a:p>
            </p:txBody>
          </p:sp>
          <p:sp>
            <p:nvSpPr>
              <p:cNvPr id="32" name="Rectangle: Rounded Corners 31">
                <a:extLst>
                  <a:ext uri="{FF2B5EF4-FFF2-40B4-BE49-F238E27FC236}">
                    <a16:creationId xmlns:a16="http://schemas.microsoft.com/office/drawing/2014/main" id="{CBCCF5CE-77AE-6907-88FB-DCFDB51C8239}"/>
                  </a:ext>
                </a:extLst>
              </p:cNvPr>
              <p:cNvSpPr/>
              <p:nvPr/>
            </p:nvSpPr>
            <p:spPr>
              <a:xfrm>
                <a:off x="6487351" y="5104326"/>
                <a:ext cx="2326512" cy="567159"/>
              </a:xfrm>
              <a:prstGeom prst="roundRect">
                <a:avLst/>
              </a:prstGeom>
              <a:solidFill>
                <a:srgbClr val="F1EFE8"/>
              </a:solidFill>
              <a:ln>
                <a:solidFill>
                  <a:srgbClr val="ADB5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Integer Feasibility</a:t>
                </a:r>
              </a:p>
            </p:txBody>
          </p:sp>
        </p:grpSp>
        <p:sp>
          <p:nvSpPr>
            <p:cNvPr id="44" name="TextBox 43">
              <a:extLst>
                <a:ext uri="{FF2B5EF4-FFF2-40B4-BE49-F238E27FC236}">
                  <a16:creationId xmlns:a16="http://schemas.microsoft.com/office/drawing/2014/main" id="{4D84D039-5C94-D381-4346-00F4458A13D5}"/>
                </a:ext>
              </a:extLst>
            </p:cNvPr>
            <p:cNvSpPr txBox="1"/>
            <p:nvPr/>
          </p:nvSpPr>
          <p:spPr>
            <a:xfrm>
              <a:off x="3540126" y="4371099"/>
              <a:ext cx="3443912" cy="369332"/>
            </a:xfrm>
            <a:prstGeom prst="rect">
              <a:avLst/>
            </a:prstGeom>
            <a:noFill/>
          </p:spPr>
          <p:txBody>
            <a:bodyPr wrap="square" rtlCol="0">
              <a:spAutoFit/>
            </a:bodyPr>
            <a:lstStyle/>
            <a:p>
              <a:r>
                <a:rPr lang="en-US" b="1"/>
                <a:t>Hard Constraints</a:t>
              </a:r>
            </a:p>
          </p:txBody>
        </p:sp>
      </p:grpSp>
      <p:cxnSp>
        <p:nvCxnSpPr>
          <p:cNvPr id="62" name="Connector: Elbow 61">
            <a:extLst>
              <a:ext uri="{FF2B5EF4-FFF2-40B4-BE49-F238E27FC236}">
                <a16:creationId xmlns:a16="http://schemas.microsoft.com/office/drawing/2014/main" id="{61B3265D-4A0E-C2E8-B973-CDF323BE15DE}"/>
              </a:ext>
            </a:extLst>
          </p:cNvPr>
          <p:cNvCxnSpPr>
            <a:cxnSpLocks/>
            <a:stCxn id="37" idx="2"/>
            <a:endCxn id="40" idx="0"/>
          </p:cNvCxnSpPr>
          <p:nvPr/>
        </p:nvCxnSpPr>
        <p:spPr>
          <a:xfrm rot="5400000">
            <a:off x="4991204" y="3039759"/>
            <a:ext cx="340830" cy="1871670"/>
          </a:xfrm>
          <a:prstGeom prst="bentConnector3">
            <a:avLst/>
          </a:prstGeom>
          <a:ln w="9525">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7B4885A0-FA41-B49E-5C36-7B4CA1A100E2}"/>
              </a:ext>
            </a:extLst>
          </p:cNvPr>
          <p:cNvCxnSpPr>
            <a:cxnSpLocks/>
            <a:stCxn id="40" idx="3"/>
          </p:cNvCxnSpPr>
          <p:nvPr/>
        </p:nvCxnSpPr>
        <p:spPr>
          <a:xfrm>
            <a:off x="6536992" y="5355726"/>
            <a:ext cx="1514808" cy="0"/>
          </a:xfrm>
          <a:prstGeom prst="straightConnector1">
            <a:avLst/>
          </a:prstGeom>
          <a:ln w="9525">
            <a:tailEnd type="triangle"/>
          </a:ln>
        </p:spPr>
        <p:style>
          <a:lnRef idx="2">
            <a:schemeClr val="dk1"/>
          </a:lnRef>
          <a:fillRef idx="0">
            <a:schemeClr val="dk1"/>
          </a:fillRef>
          <a:effectRef idx="1">
            <a:schemeClr val="dk1"/>
          </a:effectRef>
          <a:fontRef idx="minor">
            <a:schemeClr val="tx1"/>
          </a:fontRef>
        </p:style>
      </p:cxnSp>
      <p:sp>
        <p:nvSpPr>
          <p:cNvPr id="70" name="Rectangle: Rounded Corners 69">
            <a:extLst>
              <a:ext uri="{FF2B5EF4-FFF2-40B4-BE49-F238E27FC236}">
                <a16:creationId xmlns:a16="http://schemas.microsoft.com/office/drawing/2014/main" id="{7F4C4876-0A03-34AF-1546-FC887277C882}"/>
              </a:ext>
            </a:extLst>
          </p:cNvPr>
          <p:cNvSpPr/>
          <p:nvPr/>
        </p:nvSpPr>
        <p:spPr>
          <a:xfrm>
            <a:off x="8051801" y="4791631"/>
            <a:ext cx="2225624" cy="12551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Mathematically Guaranteed Best Solution </a:t>
            </a:r>
          </a:p>
        </p:txBody>
      </p:sp>
    </p:spTree>
    <p:extLst>
      <p:ext uri="{BB962C8B-B14F-4D97-AF65-F5344CB8AC3E}">
        <p14:creationId xmlns:p14="http://schemas.microsoft.com/office/powerpoint/2010/main" val="208310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1DE4F25-B1E2-D7D9-DB5D-B032BC3D036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5121079-B6C0-CD28-A308-9D4D3AEBC833}"/>
              </a:ext>
            </a:extLst>
          </p:cNvPr>
          <p:cNvPicPr>
            <a:picLocks noChangeAspect="1"/>
          </p:cNvPicPr>
          <p:nvPr/>
        </p:nvPicPr>
        <p:blipFill>
          <a:blip r:embed="rId3"/>
          <a:stretch>
            <a:fillRect/>
          </a:stretch>
        </p:blipFill>
        <p:spPr>
          <a:xfrm>
            <a:off x="4063325" y="1375956"/>
            <a:ext cx="4065349" cy="3208236"/>
          </a:xfrm>
          <a:prstGeom prst="rect">
            <a:avLst/>
          </a:prstGeom>
        </p:spPr>
      </p:pic>
      <p:pic>
        <p:nvPicPr>
          <p:cNvPr id="10" name="Picture 9">
            <a:extLst>
              <a:ext uri="{FF2B5EF4-FFF2-40B4-BE49-F238E27FC236}">
                <a16:creationId xmlns:a16="http://schemas.microsoft.com/office/drawing/2014/main" id="{B47B6F85-077F-DC94-5058-374467DEEBE4}"/>
              </a:ext>
            </a:extLst>
          </p:cNvPr>
          <p:cNvPicPr>
            <a:picLocks noChangeAspect="1"/>
          </p:cNvPicPr>
          <p:nvPr/>
        </p:nvPicPr>
        <p:blipFill>
          <a:blip r:embed="rId4"/>
          <a:srcRect r="1416"/>
          <a:stretch>
            <a:fillRect/>
          </a:stretch>
        </p:blipFill>
        <p:spPr>
          <a:xfrm>
            <a:off x="2772497" y="4900940"/>
            <a:ext cx="6059424" cy="520143"/>
          </a:xfrm>
          <a:prstGeom prst="rect">
            <a:avLst/>
          </a:prstGeom>
        </p:spPr>
      </p:pic>
      <p:sp>
        <p:nvSpPr>
          <p:cNvPr id="11" name="TextBox 10">
            <a:extLst>
              <a:ext uri="{FF2B5EF4-FFF2-40B4-BE49-F238E27FC236}">
                <a16:creationId xmlns:a16="http://schemas.microsoft.com/office/drawing/2014/main" id="{7FE91A6B-B854-9D69-336C-074EEB0E969B}"/>
              </a:ext>
            </a:extLst>
          </p:cNvPr>
          <p:cNvSpPr txBox="1"/>
          <p:nvPr/>
        </p:nvSpPr>
        <p:spPr>
          <a:xfrm>
            <a:off x="7180667" y="4635846"/>
            <a:ext cx="1463040" cy="923330"/>
          </a:xfrm>
          <a:prstGeom prst="rect">
            <a:avLst/>
          </a:prstGeom>
          <a:noFill/>
        </p:spPr>
        <p:txBody>
          <a:bodyPr wrap="square" rtlCol="0">
            <a:spAutoFit/>
          </a:bodyPr>
          <a:lstStyle/>
          <a:p>
            <a:r>
              <a:rPr lang="en-US" sz="5200">
                <a:solidFill>
                  <a:schemeClr val="accent2"/>
                </a:solidFill>
                <a:latin typeface="Calibri" panose="020F0502020204030204" pitchFamily="34" charset="0"/>
                <a:ea typeface="Calibri" panose="020F0502020204030204" pitchFamily="34" charset="0"/>
                <a:cs typeface="Calibri" panose="020F0502020204030204" pitchFamily="34" charset="0"/>
              </a:rPr>
              <a:t>now</a:t>
            </a:r>
          </a:p>
        </p:txBody>
      </p:sp>
    </p:spTree>
    <p:extLst>
      <p:ext uri="{BB962C8B-B14F-4D97-AF65-F5344CB8AC3E}">
        <p14:creationId xmlns:p14="http://schemas.microsoft.com/office/powerpoint/2010/main" val="245381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0" tmFilter="0, 0; .2, .5; .8, .5; 1, 0"/>
                                        <p:tgtEl>
                                          <p:spTgt spid="9"/>
                                        </p:tgtEl>
                                      </p:cBhvr>
                                    </p:animEffect>
                                    <p:animScale>
                                      <p:cBhvr>
                                        <p:cTn id="7" dur="2500" autoRev="1" fill="hold"/>
                                        <p:tgtEl>
                                          <p:spTgt spid="9"/>
                                        </p:tgtEl>
                                      </p:cBhvr>
                                      <p:by x="105000" y="105000"/>
                                    </p:animScale>
                                  </p:childTnLst>
                                </p:cTn>
                              </p:par>
                              <p:par>
                                <p:cTn id="8" presetID="26" presetClass="emph" presetSubtype="0" fill="hold" nodeType="withEffect">
                                  <p:stCondLst>
                                    <p:cond delay="0"/>
                                  </p:stCondLst>
                                  <p:childTnLst>
                                    <p:animEffect transition="out" filter="fade">
                                      <p:cBhvr>
                                        <p:cTn id="9" dur="5000" tmFilter="0, 0; .2, .5; .8, .5; 1, 0"/>
                                        <p:tgtEl>
                                          <p:spTgt spid="10"/>
                                        </p:tgtEl>
                                      </p:cBhvr>
                                    </p:animEffect>
                                    <p:animScale>
                                      <p:cBhvr>
                                        <p:cTn id="10" dur="2500" autoRev="1" fill="hold"/>
                                        <p:tgtEl>
                                          <p:spTgt spid="10"/>
                                        </p:tgtEl>
                                      </p:cBhvr>
                                      <p:by x="105000" y="105000"/>
                                    </p:animScale>
                                  </p:childTnLst>
                                </p:cTn>
                              </p:par>
                            </p:childTnLst>
                          </p:cTn>
                        </p:par>
                        <p:par>
                          <p:cTn id="11" fill="hold">
                            <p:stCondLst>
                              <p:cond delay="5000"/>
                            </p:stCondLst>
                            <p:childTnLst>
                              <p:par>
                                <p:cTn id="12" presetID="42" presetClass="path" presetSubtype="0" accel="50000" decel="50000" fill="hold" nodeType="afterEffect">
                                  <p:stCondLst>
                                    <p:cond delay="0"/>
                                  </p:stCondLst>
                                  <p:childTnLst>
                                    <p:animMotion origin="layout" path="M -1.25E-6 3.7037E-6 L -0.14049 -0.00255 " pathEditMode="relative" rAng="0" ptsTypes="AA">
                                      <p:cBhvr>
                                        <p:cTn id="13" dur="2000" fill="hold"/>
                                        <p:tgtEl>
                                          <p:spTgt spid="10"/>
                                        </p:tgtEl>
                                        <p:attrNameLst>
                                          <p:attrName>ppt_x</p:attrName>
                                          <p:attrName>ppt_y</p:attrName>
                                        </p:attrNameLst>
                                      </p:cBhvr>
                                      <p:rCtr x="-7031" y="-139"/>
                                    </p:animMotion>
                                  </p:childTnLst>
                                </p:cTn>
                              </p:par>
                            </p:childTnLst>
                          </p:cTn>
                        </p:par>
                        <p:par>
                          <p:cTn id="14" fill="hold">
                            <p:stCondLst>
                              <p:cond delay="7000"/>
                            </p:stCondLst>
                            <p:childTnLst>
                              <p:par>
                                <p:cTn id="15" presetID="1"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par>
                          <p:cTn id="17" fill="hold">
                            <p:stCondLst>
                              <p:cond delay="7000"/>
                            </p:stCondLst>
                            <p:childTnLst>
                              <p:par>
                                <p:cTn id="18" presetID="10" presetClass="exit" presetSubtype="0" fill="hold" nodeType="afterEffect">
                                  <p:stCondLst>
                                    <p:cond delay="0"/>
                                  </p:stCondLst>
                                  <p:childTnLst>
                                    <p:animEffect transition="out" filter="fade">
                                      <p:cBhvr>
                                        <p:cTn id="19" dur="3000"/>
                                        <p:tgtEl>
                                          <p:spTgt spid="9"/>
                                        </p:tgtEl>
                                      </p:cBhvr>
                                    </p:animEffect>
                                    <p:set>
                                      <p:cBhvr>
                                        <p:cTn id="20" dur="1" fill="hold">
                                          <p:stCondLst>
                                            <p:cond delay="2999"/>
                                          </p:stCondLst>
                                        </p:cTn>
                                        <p:tgtEl>
                                          <p:spTgt spid="9"/>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3000"/>
                                        <p:tgtEl>
                                          <p:spTgt spid="10"/>
                                        </p:tgtEl>
                                      </p:cBhvr>
                                    </p:animEffect>
                                    <p:set>
                                      <p:cBhvr>
                                        <p:cTn id="23" dur="1" fill="hold">
                                          <p:stCondLst>
                                            <p:cond delay="2999"/>
                                          </p:stCondLst>
                                        </p:cTn>
                                        <p:tgtEl>
                                          <p:spTgt spid="10"/>
                                        </p:tgtEl>
                                        <p:attrNameLst>
                                          <p:attrName>style.visibility</p:attrName>
                                        </p:attrNameLst>
                                      </p:cBhvr>
                                      <p:to>
                                        <p:strVal val="hidden"/>
                                      </p:to>
                                    </p:set>
                                  </p:childTnLst>
                                </p:cTn>
                              </p:par>
                            </p:childTnLst>
                          </p:cTn>
                        </p:par>
                        <p:par>
                          <p:cTn id="24" fill="hold">
                            <p:stCondLst>
                              <p:cond delay="10000"/>
                            </p:stCondLst>
                            <p:childTnLst>
                              <p:par>
                                <p:cTn id="25" presetID="10" presetClass="entr" presetSubtype="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7076CD-C0F3-6B81-14D0-493EF25E97B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F697881-D0D2-D02C-FA77-0B4331852C4D}"/>
              </a:ext>
            </a:extLst>
          </p:cNvPr>
          <p:cNvPicPr>
            <a:picLocks noChangeAspect="1"/>
          </p:cNvPicPr>
          <p:nvPr/>
        </p:nvPicPr>
        <p:blipFill>
          <a:blip r:embed="rId3"/>
          <a:stretch>
            <a:fillRect/>
          </a:stretch>
        </p:blipFill>
        <p:spPr>
          <a:xfrm>
            <a:off x="4063325" y="1375956"/>
            <a:ext cx="4065349" cy="3208236"/>
          </a:xfrm>
          <a:prstGeom prst="rect">
            <a:avLst/>
          </a:prstGeom>
        </p:spPr>
      </p:pic>
      <p:grpSp>
        <p:nvGrpSpPr>
          <p:cNvPr id="2" name="Group 1">
            <a:extLst>
              <a:ext uri="{FF2B5EF4-FFF2-40B4-BE49-F238E27FC236}">
                <a16:creationId xmlns:a16="http://schemas.microsoft.com/office/drawing/2014/main" id="{B64693C5-1C63-6977-2C85-FBCBBBDD1FB7}"/>
              </a:ext>
            </a:extLst>
          </p:cNvPr>
          <p:cNvGrpSpPr/>
          <p:nvPr/>
        </p:nvGrpSpPr>
        <p:grpSpPr>
          <a:xfrm>
            <a:off x="2135894" y="4797892"/>
            <a:ext cx="7549536" cy="923330"/>
            <a:chOff x="1765502" y="4624271"/>
            <a:chExt cx="7549536" cy="923330"/>
          </a:xfrm>
        </p:grpSpPr>
        <p:pic>
          <p:nvPicPr>
            <p:cNvPr id="10" name="Picture 9">
              <a:extLst>
                <a:ext uri="{FF2B5EF4-FFF2-40B4-BE49-F238E27FC236}">
                  <a16:creationId xmlns:a16="http://schemas.microsoft.com/office/drawing/2014/main" id="{2DC32DDB-869F-7BE7-5EB1-21CA69B6EE74}"/>
                </a:ext>
              </a:extLst>
            </p:cNvPr>
            <p:cNvPicPr>
              <a:picLocks noChangeAspect="1"/>
            </p:cNvPicPr>
            <p:nvPr/>
          </p:nvPicPr>
          <p:blipFill>
            <a:blip r:embed="rId4"/>
            <a:srcRect r="1416"/>
            <a:stretch>
              <a:fillRect/>
            </a:stretch>
          </p:blipFill>
          <p:spPr>
            <a:xfrm>
              <a:off x="1765502" y="4877790"/>
              <a:ext cx="6059424" cy="520143"/>
            </a:xfrm>
            <a:prstGeom prst="rect">
              <a:avLst/>
            </a:prstGeom>
          </p:spPr>
        </p:pic>
        <p:sp>
          <p:nvSpPr>
            <p:cNvPr id="11" name="TextBox 10">
              <a:extLst>
                <a:ext uri="{FF2B5EF4-FFF2-40B4-BE49-F238E27FC236}">
                  <a16:creationId xmlns:a16="http://schemas.microsoft.com/office/drawing/2014/main" id="{5AB24957-3B74-F87F-09A1-587F269DD5EE}"/>
                </a:ext>
              </a:extLst>
            </p:cNvPr>
            <p:cNvSpPr txBox="1"/>
            <p:nvPr/>
          </p:nvSpPr>
          <p:spPr>
            <a:xfrm>
              <a:off x="7851998" y="4624271"/>
              <a:ext cx="1463040" cy="923330"/>
            </a:xfrm>
            <a:prstGeom prst="rect">
              <a:avLst/>
            </a:prstGeom>
            <a:noFill/>
          </p:spPr>
          <p:txBody>
            <a:bodyPr wrap="square" rtlCol="0">
              <a:spAutoFit/>
            </a:bodyPr>
            <a:lstStyle/>
            <a:p>
              <a:r>
                <a:rPr lang="en-US" sz="5200">
                  <a:solidFill>
                    <a:schemeClr val="accent2"/>
                  </a:solidFill>
                  <a:latin typeface="Calibri" panose="020F0502020204030204" pitchFamily="34" charset="0"/>
                  <a:ea typeface="Calibri" panose="020F0502020204030204" pitchFamily="34" charset="0"/>
                  <a:cs typeface="Calibri" panose="020F0502020204030204" pitchFamily="34" charset="0"/>
                </a:rPr>
                <a:t>now</a:t>
              </a:r>
            </a:p>
          </p:txBody>
        </p:sp>
      </p:grpSp>
    </p:spTree>
    <p:extLst>
      <p:ext uri="{BB962C8B-B14F-4D97-AF65-F5344CB8AC3E}">
        <p14:creationId xmlns:p14="http://schemas.microsoft.com/office/powerpoint/2010/main" val="429101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0" tmFilter="0, 0; .2, .5; .8, .5; 1, 0"/>
                                        <p:tgtEl>
                                          <p:spTgt spid="9"/>
                                        </p:tgtEl>
                                      </p:cBhvr>
                                    </p:animEffect>
                                    <p:animScale>
                                      <p:cBhvr>
                                        <p:cTn id="7" dur="2500" autoRev="1" fill="hold"/>
                                        <p:tgtEl>
                                          <p:spTgt spid="9"/>
                                        </p:tgtEl>
                                      </p:cBhvr>
                                      <p:by x="105000" y="105000"/>
                                    </p:animScale>
                                  </p:childTnLst>
                                </p:cTn>
                              </p:par>
                            </p:childTnLst>
                          </p:cTn>
                        </p:par>
                        <p:par>
                          <p:cTn id="8" fill="hold">
                            <p:stCondLst>
                              <p:cond delay="5000"/>
                            </p:stCondLst>
                            <p:childTnLst>
                              <p:par>
                                <p:cTn id="9" presetID="10" presetClass="exit" presetSubtype="0" fill="hold" nodeType="afterEffect">
                                  <p:stCondLst>
                                    <p:cond delay="0"/>
                                  </p:stCondLst>
                                  <p:childTnLst>
                                    <p:animEffect transition="out" filter="fade">
                                      <p:cBhvr>
                                        <p:cTn id="10" dur="3000"/>
                                        <p:tgtEl>
                                          <p:spTgt spid="9"/>
                                        </p:tgtEl>
                                      </p:cBhvr>
                                    </p:animEffect>
                                    <p:set>
                                      <p:cBhvr>
                                        <p:cTn id="11" dur="1" fill="hold">
                                          <p:stCondLst>
                                            <p:cond delay="2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8" row="9">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FEBD2C6-DD22-4A3B-A715-18542846298F}">
  <we:reference id="bc854cf1-a8f8-4108-bb0c-7ead9d48d8ad" version="1.0.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ba05860-356f-40d1-850a-43ac794aef80">
      <Terms xmlns="http://schemas.microsoft.com/office/infopath/2007/PartnerControls"/>
    </lcf76f155ced4ddcb4097134ff3c332f>
    <TaxCatchAll xmlns="fee461f0-4eb4-4a8a-bd46-756dc99b587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883D6A25080D40899026FC55F586A4" ma:contentTypeVersion="21" ma:contentTypeDescription="Create a new document." ma:contentTypeScope="" ma:versionID="77f3b59d2b6873ac242f2b3857af8460">
  <xsd:schema xmlns:xsd="http://www.w3.org/2001/XMLSchema" xmlns:xs="http://www.w3.org/2001/XMLSchema" xmlns:p="http://schemas.microsoft.com/office/2006/metadata/properties" xmlns:ns2="8ba05860-356f-40d1-850a-43ac794aef80" xmlns:ns3="fee461f0-4eb4-4a8a-bd46-756dc99b5879" targetNamespace="http://schemas.microsoft.com/office/2006/metadata/properties" ma:root="true" ma:fieldsID="dc9b24e1c49ac3b4b9c67530b42579c1" ns2:_="" ns3:_="">
    <xsd:import namespace="8ba05860-356f-40d1-850a-43ac794aef80"/>
    <xsd:import namespace="fee461f0-4eb4-4a8a-bd46-756dc99b587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3:TaxCatchAll" minOccurs="0"/>
                <xsd:element ref="ns2:lcf76f155ced4ddcb4097134ff3c332f"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a05860-356f-40d1-850a-43ac794aef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03f1f4f-fe90-473e-a893-ee8dfa259cdb"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Location" ma:index="24" nillable="true" ma:displayName="Location" ma:descrip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ee461f0-4eb4-4a8a-bd46-756dc99b587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ee8650c1-7676-48ac-ad8b-d6d307682074}" ma:internalName="TaxCatchAll" ma:showField="CatchAllData" ma:web="fee461f0-4eb4-4a8a-bd46-756dc99b58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566098-420D-4190-8312-813CF10B5F01}">
  <ds:schemaRefs>
    <ds:schemaRef ds:uri="8ba05860-356f-40d1-850a-43ac794aef80"/>
    <ds:schemaRef ds:uri="fee461f0-4eb4-4a8a-bd46-756dc99b587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BCC3DD0-1164-49C8-A18E-02BE5B486FC1}">
  <ds:schemaRefs>
    <ds:schemaRef ds:uri="8ba05860-356f-40d1-850a-43ac794aef80"/>
    <ds:schemaRef ds:uri="fee461f0-4eb4-4a8a-bd46-756dc99b58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61F6ECF-4F8E-45D9-AB8C-14625F5532B1}">
  <ds:schemaRefs>
    <ds:schemaRef ds:uri="http://schemas.microsoft.com/sharepoint/v3/contenttype/forms"/>
  </ds:schemaRefs>
</ds:datastoreItem>
</file>

<file path=docMetadata/LabelInfo.xml><?xml version="1.0" encoding="utf-8"?>
<clbl:labelList xmlns:clbl="http://schemas.microsoft.com/office/2020/mipLabelMetadata">
  <clbl:label id="{7ffb99db-04b0-4879-8e73-d3174e57b086}" enabled="1" method="Standard" siteId="{ec3c7dee-d552-494b-a393-7f941a90b985}" removed="0"/>
</clbl:labelList>
</file>

<file path=docProps/app.xml><?xml version="1.0" encoding="utf-8"?>
<Properties xmlns="http://schemas.openxmlformats.org/officeDocument/2006/extended-properties" xmlns:vt="http://schemas.openxmlformats.org/officeDocument/2006/docPropsVTypes">
  <TotalTime>0</TotalTime>
  <Words>983</Words>
  <Application>Microsoft Office PowerPoint</Application>
  <PresentationFormat>Widescreen</PresentationFormat>
  <Paragraphs>134</Paragraphs>
  <Slides>13</Slides>
  <Notes>12</Notes>
  <HiddenSlides>4</HiddenSlides>
  <MMClips>1</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ZS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Hrishiraj Mallick</dc:creator>
  <cp:lastModifiedBy>Hrishiraj Mallick</cp:lastModifiedBy>
  <cp:revision>3</cp:revision>
  <dcterms:created xsi:type="dcterms:W3CDTF">2026-04-15T09:39:40Z</dcterms:created>
  <dcterms:modified xsi:type="dcterms:W3CDTF">2026-06-04T07:08:06Z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0x01010014883D6A25080D40899026FC55F586A4</vt:lpwstr>
  </property>
  <property fmtid="{D5CDD505-2E9C-101B-9397-08002B2CF9AE}" pid="3" name="MediaServiceImageTags">
    <vt:lpwstr/>
  </property>
</Properties>
</file>